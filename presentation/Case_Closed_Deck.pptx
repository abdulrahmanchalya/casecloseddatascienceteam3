
<file path=[Content_Types].xml><?xml version="1.0" encoding="utf-8"?>
<Types xmlns="http://schemas.openxmlformats.org/package/2006/content-types">
  <Default ContentType="application/vnd.openxmlformats-officedocument.spreadsheetml.sheet" Extension="xlsx"/>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3.xml"/>
  <Override ContentType="application/vnd.openxmlformats-officedocument.drawingml.chart+xml" PartName="/ppt/charts/chart2.xml"/>
  <Override ContentType="application/vnd.openxmlformats-officedocument.drawingml.chart+xml" PartName="/ppt/charts/chart4.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jkDgpcIufN4GJhSEqWARf9rhejo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customschemas.google.com/relationships/presentationmetadata" Target="metadata"/><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33333"/>
                </a:solidFill>
                <a:latin typeface="+mn-lt"/>
              </a:defRPr>
            </a:pPr>
            <a:r>
              <a:rPr sz="1300" b="0" i="0" u="none" strike="noStrike">
                <a:solidFill>
                  <a:srgbClr val="333333"/>
                </a:solidFill>
                <a:latin typeface="+mn-lt"/>
              </a:rPr>
              <a:t>% of customers who left, by billing tickets (last 90 days)</a:t>
            </a:r>
          </a:p>
        </c:rich>
      </c:tx>
      <c:layout/>
      <c:overlay val="0"/>
    </c:title>
    <c:autoTitleDeleted val="0"/>
    <c:plotArea>
      <c:layout/>
      <c:barChart>
        <c:barDir val="col"/>
        <c:grouping val="clustered"/>
        <c:varyColors val="0"/>
        <c:ser>
          <c:idx val="0"/>
          <c:order val="0"/>
          <c:tx>
            <c:strRef>
              <c:f>Sheet1!$B$1</c:f>
              <c:strCache>
                <c:ptCount val="1"/>
                <c:pt idx="0">
                  <c:v>Highlight</c:v>
                </c:pt>
              </c:strCache>
            </c:strRef>
          </c:tx>
          <c:spPr>
            <a:solidFill>
              <a:srgbClr val="A8322A"/>
            </a:solidFill>
            <a:effectLst/>
          </c:spPr>
          <c:invertIfNegative val="0"/>
          <c:dLbls>
            <c:numFmt formatCode="0.0%;;" sourceLinked="0"/>
            <c:txPr>
              <a:bodyPr/>
              <a:lstStyle/>
              <a:p>
                <a:pPr>
                  <a:defRPr b="1" i="0" strike="noStrike" sz="1200" u="none">
                    <a:solidFill>
                      <a:srgbClr val="333333"/>
                    </a:solidFill>
                    <a:latin typeface="+mn-lt"/>
                  </a:defRPr>
                </a:pPr>
              </a:p>
            </c:txPr>
            <c:dLblPos val="outEnd"/>
            <c:showLegendKey val="0"/>
            <c:showVal val="1"/>
            <c:showCatName val="0"/>
            <c:showSerName val="0"/>
            <c:showPercent val="0"/>
            <c:showBubbleSize val="0"/>
            <c:showLeaderLines val="0"/>
          </c:dLbls>
          <c:cat>
            <c:strRef>
              <c:f>Sheet1!$A$2:$A$4</c:f>
              <c:strCache>
                <c:ptCount val="3"/>
                <c:pt idx="0">
                  <c:v>No ticket
(4,620 customers)</c:v>
                </c:pt>
                <c:pt idx="1">
                  <c:v>1 billing ticket
(847)</c:v>
                </c:pt>
                <c:pt idx="2">
                  <c:v>2+ billing tickets
(682)</c:v>
                </c:pt>
              </c:strCache>
            </c:strRef>
          </c:cat>
          <c:val>
            <c:numRef>
              <c:f>Sheet1!$B$2:$B$4</c:f>
              <c:numCache>
                <c:formatCode>0.0%</c:formatCode>
                <c:ptCount val="3"/>
                <c:pt idx="0">
                  <c:v>0</c:v>
                </c:pt>
                <c:pt idx="1">
                  <c:v>0</c:v>
                </c:pt>
                <c:pt idx="2">
                  <c:v>0.565</c:v>
                </c:pt>
              </c:numCache>
            </c:numRef>
          </c:val>
        </c:ser>
        <c:ser>
          <c:idx val="1"/>
          <c:order val="1"/>
          <c:tx>
            <c:strRef>
              <c:f>Sheet1!$C$1</c:f>
              <c:strCache>
                <c:ptCount val="1"/>
                <c:pt idx="0">
                  <c:v>Other</c:v>
                </c:pt>
              </c:strCache>
            </c:strRef>
          </c:tx>
          <c:spPr>
            <a:solidFill>
              <a:srgbClr val="B5B5B5"/>
            </a:solidFill>
            <a:effectLst/>
          </c:spPr>
          <c:invertIfNegative val="0"/>
          <c:dLbls>
            <c:numFmt formatCode="0.0%;;" sourceLinked="0"/>
            <c:txPr>
              <a:bodyPr/>
              <a:lstStyle/>
              <a:p>
                <a:pPr>
                  <a:defRPr b="1" i="0" strike="noStrike" sz="1200" u="none">
                    <a:solidFill>
                      <a:srgbClr val="333333"/>
                    </a:solidFill>
                    <a:latin typeface="+mn-lt"/>
                  </a:defRPr>
                </a:pPr>
              </a:p>
            </c:txPr>
            <c:dLblPos val="outEnd"/>
            <c:showLegendKey val="0"/>
            <c:showVal val="1"/>
            <c:showCatName val="0"/>
            <c:showSerName val="0"/>
            <c:showPercent val="0"/>
            <c:showBubbleSize val="0"/>
            <c:showLeaderLines val="0"/>
          </c:dLbls>
          <c:cat>
            <c:strRef>
              <c:f>Sheet1!$A$2:$A$4</c:f>
              <c:strCache>
                <c:ptCount val="3"/>
                <c:pt idx="0">
                  <c:v>No ticket
(4,620 customers)</c:v>
                </c:pt>
                <c:pt idx="1">
                  <c:v>1 billing ticket
(847)</c:v>
                </c:pt>
                <c:pt idx="2">
                  <c:v>2+ billing tickets
(682)</c:v>
                </c:pt>
              </c:strCache>
            </c:strRef>
          </c:cat>
          <c:val>
            <c:numRef>
              <c:f>Sheet1!$C$2:$C$4</c:f>
              <c:numCache>
                <c:formatCode>0.0%</c:formatCode>
                <c:ptCount val="3"/>
                <c:pt idx="0">
                  <c:v>0.057</c:v>
                </c:pt>
                <c:pt idx="1">
                  <c:v>0.053</c:v>
                </c:pt>
                <c:pt idx="2">
                  <c:v>0</c:v>
                </c:pt>
              </c:numCache>
            </c:numRef>
          </c:val>
        </c:ser>
        <c:dLbls>
          <c:numFmt formatCode="0.0%;;" sourceLinked="0"/>
          <c:txPr>
            <a:bodyPr/>
            <a:lstStyle/>
            <a:p>
              <a:pPr>
                <a:defRPr b="1" i="0" strike="noStrike" sz="1200" u="none">
                  <a:solidFill>
                    <a:srgbClr val="333333"/>
                  </a:solidFill>
                  <a:latin typeface="+mn-lt"/>
                </a:defRPr>
              </a:pPr>
            </a:p>
          </c:txPr>
          <c:dLblPos val="out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333333"/>
                </a:solidFill>
                <a:latin typeface="+mn-lt"/>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33333"/>
                </a:solidFill>
                <a:latin typeface="+mn-lt"/>
              </a:defRPr>
            </a:pPr>
            <a:r>
              <a:rPr sz="1300" b="0" i="0" u="none" strike="noStrike">
                <a:solidFill>
                  <a:srgbClr val="333333"/>
                </a:solidFill>
                <a:latin typeface="+mn-lt"/>
              </a:rPr>
              <a:t>% of customers who left: only low-usage promo sign-ups leave in large numbers</a:t>
            </a:r>
          </a:p>
        </c:rich>
      </c:tx>
      <c:layout/>
      <c:overlay val="0"/>
    </c:title>
    <c:autoTitleDeleted val="0"/>
    <c:plotArea>
      <c:layout/>
      <c:barChart>
        <c:barDir val="bar"/>
        <c:grouping val="clustered"/>
        <c:varyColors val="0"/>
        <c:ser>
          <c:idx val="0"/>
          <c:order val="0"/>
          <c:tx>
            <c:strRef>
              <c:f>Sheet1!$B$1</c:f>
              <c:strCache>
                <c:ptCount val="1"/>
                <c:pt idx="0">
                  <c:v>Highlight</c:v>
                </c:pt>
              </c:strCache>
            </c:strRef>
          </c:tx>
          <c:spPr>
            <a:solidFill>
              <a:srgbClr val="A8322A"/>
            </a:solidFill>
            <a:effectLst/>
          </c:spPr>
          <c:invertIfNegative val="0"/>
          <c:dLbls>
            <c:numFmt formatCode="0.0%;;" sourceLinked="0"/>
            <c:txPr>
              <a:bodyPr/>
              <a:lstStyle/>
              <a:p>
                <a:pPr>
                  <a:defRPr b="1" i="0" strike="noStrike" sz="1200" u="none">
                    <a:solidFill>
                      <a:srgbClr val="333333"/>
                    </a:solidFill>
                    <a:latin typeface="+mn-lt"/>
                  </a:defRPr>
                </a:pPr>
              </a:p>
            </c:txPr>
            <c:dLblPos val="outEnd"/>
            <c:showLegendKey val="0"/>
            <c:showVal val="1"/>
            <c:showCatName val="0"/>
            <c:showSerName val="0"/>
            <c:showPercent val="0"/>
            <c:showBubbleSize val="0"/>
            <c:showLeaderLines val="0"/>
          </c:dLbls>
          <c:cat>
            <c:strRef>
              <c:f>Sheet1!$A$2:$A$6</c:f>
              <c:strCache>
                <c:ptCount val="5"/>
                <c:pt idx="0">
                  <c:v>Other channels, low-usage (842)</c:v>
                </c:pt>
                <c:pt idx="1">
                  <c:v>Promo, podcast-heavy (191)</c:v>
                </c:pt>
                <c:pt idx="2">
                  <c:v>Promo, music-heavy (394)</c:v>
                </c:pt>
                <c:pt idx="3">
                  <c:v>Promo, balanced (260)</c:v>
                </c:pt>
                <c:pt idx="4">
                  <c:v>Promo, low-usage (435)</c:v>
                </c:pt>
              </c:strCache>
            </c:strRef>
          </c:cat>
          <c:val>
            <c:numRef>
              <c:f>Sheet1!$B$2:$B$6</c:f>
              <c:numCache>
                <c:formatCode>0.0%</c:formatCode>
                <c:ptCount val="5"/>
                <c:pt idx="0">
                  <c:v>0</c:v>
                </c:pt>
                <c:pt idx="1">
                  <c:v>0</c:v>
                </c:pt>
                <c:pt idx="2">
                  <c:v>0</c:v>
                </c:pt>
                <c:pt idx="3">
                  <c:v>0</c:v>
                </c:pt>
                <c:pt idx="4">
                  <c:v>0.517</c:v>
                </c:pt>
              </c:numCache>
            </c:numRef>
          </c:val>
        </c:ser>
        <c:ser>
          <c:idx val="1"/>
          <c:order val="1"/>
          <c:tx>
            <c:strRef>
              <c:f>Sheet1!$C$1</c:f>
              <c:strCache>
                <c:ptCount val="1"/>
                <c:pt idx="0">
                  <c:v>Other</c:v>
                </c:pt>
              </c:strCache>
            </c:strRef>
          </c:tx>
          <c:spPr>
            <a:solidFill>
              <a:srgbClr val="B5B5B5"/>
            </a:solidFill>
            <a:effectLst/>
          </c:spPr>
          <c:invertIfNegative val="0"/>
          <c:dLbls>
            <c:numFmt formatCode="0.0%;;" sourceLinked="0"/>
            <c:txPr>
              <a:bodyPr/>
              <a:lstStyle/>
              <a:p>
                <a:pPr>
                  <a:defRPr b="1" i="0" strike="noStrike" sz="1200" u="none">
                    <a:solidFill>
                      <a:srgbClr val="333333"/>
                    </a:solidFill>
                    <a:latin typeface="+mn-lt"/>
                  </a:defRPr>
                </a:pPr>
              </a:p>
            </c:txPr>
            <c:dLblPos val="outEnd"/>
            <c:showLegendKey val="0"/>
            <c:showVal val="1"/>
            <c:showCatName val="0"/>
            <c:showSerName val="0"/>
            <c:showPercent val="0"/>
            <c:showBubbleSize val="0"/>
            <c:showLeaderLines val="0"/>
          </c:dLbls>
          <c:cat>
            <c:strRef>
              <c:f>Sheet1!$A$2:$A$6</c:f>
              <c:strCache>
                <c:ptCount val="5"/>
                <c:pt idx="0">
                  <c:v>Other channels, low-usage (842)</c:v>
                </c:pt>
                <c:pt idx="1">
                  <c:v>Promo, podcast-heavy (191)</c:v>
                </c:pt>
                <c:pt idx="2">
                  <c:v>Promo, music-heavy (394)</c:v>
                </c:pt>
                <c:pt idx="3">
                  <c:v>Promo, balanced (260)</c:v>
                </c:pt>
                <c:pt idx="4">
                  <c:v>Promo, low-usage (435)</c:v>
                </c:pt>
              </c:strCache>
            </c:strRef>
          </c:cat>
          <c:val>
            <c:numRef>
              <c:f>Sheet1!$C$2:$C$6</c:f>
              <c:numCache>
                <c:formatCode>0.0%</c:formatCode>
                <c:ptCount val="5"/>
                <c:pt idx="0">
                  <c:v>0.076</c:v>
                </c:pt>
                <c:pt idx="1">
                  <c:v>0.073</c:v>
                </c:pt>
                <c:pt idx="2">
                  <c:v>0.074</c:v>
                </c:pt>
                <c:pt idx="3">
                  <c:v>0.073</c:v>
                </c:pt>
                <c:pt idx="4">
                  <c:v>0</c:v>
                </c:pt>
              </c:numCache>
            </c:numRef>
          </c:val>
        </c:ser>
        <c:dLbls>
          <c:numFmt formatCode="0.0%;;" sourceLinked="0"/>
          <c:txPr>
            <a:bodyPr/>
            <a:lstStyle/>
            <a:p>
              <a:pPr>
                <a:defRPr b="1" i="0" strike="noStrike" sz="1200" u="none">
                  <a:solidFill>
                    <a:srgbClr val="333333"/>
                  </a:solidFill>
                  <a:latin typeface="+mn-lt"/>
                </a:defRPr>
              </a:pPr>
            </a:p>
          </c:txPr>
          <c:dLblPos val="out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333333"/>
                </a:solidFill>
                <a:latin typeface="+mn-lt"/>
              </a:defRPr>
            </a:pPr>
            <a:endParaRPr lang="en-US"/>
          </a:p>
        </c:txPr>
        <c:crossAx val="2094734552"/>
        <c:crosses val="autoZero"/>
        <c:auto val="1"/>
        <c:lblAlgn val="ctr"/>
        <c:noMultiLvlLbl val="1"/>
      </c:catAx>
      <c:valAx>
        <c:axId val="2094734552"/>
        <c:scaling>
          <c:orientation val="minMax"/>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33333"/>
                </a:solidFill>
                <a:latin typeface="+mn-lt"/>
              </a:defRPr>
            </a:pPr>
            <a:r>
              <a:rPr sz="1300" b="0" i="0" u="none" strike="noStrike">
                <a:solidFill>
                  <a:srgbClr val="333333"/>
                </a:solidFill>
                <a:latin typeface="+mn-lt"/>
              </a:rPr>
              <a:t>% of customers who left, by group</a:t>
            </a:r>
          </a:p>
        </c:rich>
      </c:tx>
      <c:layout/>
      <c:overlay val="0"/>
    </c:title>
    <c:autoTitleDeleted val="0"/>
    <c:plotArea>
      <c:layout/>
      <c:barChart>
        <c:barDir val="col"/>
        <c:grouping val="clustered"/>
        <c:varyColors val="0"/>
        <c:ser>
          <c:idx val="0"/>
          <c:order val="0"/>
          <c:tx>
            <c:strRef>
              <c:f>Sheet1!$B$1</c:f>
              <c:strCache>
                <c:ptCount val="1"/>
                <c:pt idx="0">
                  <c:v>Highlight</c:v>
                </c:pt>
              </c:strCache>
            </c:strRef>
          </c:tx>
          <c:spPr>
            <a:solidFill>
              <a:srgbClr val="A8322A"/>
            </a:solidFill>
            <a:effectLst/>
          </c:spPr>
          <c:invertIfNegative val="0"/>
          <c:dLbls>
            <c:numFmt formatCode="0.0%;;" sourceLinked="0"/>
            <c:txPr>
              <a:bodyPr/>
              <a:lstStyle/>
              <a:p>
                <a:pPr>
                  <a:defRPr b="1" i="0" strike="noStrike" sz="1200" u="none">
                    <a:solidFill>
                      <a:srgbClr val="333333"/>
                    </a:solidFill>
                    <a:latin typeface="+mn-lt"/>
                  </a:defRPr>
                </a:pPr>
              </a:p>
            </c:txPr>
            <c:dLblPos val="outEnd"/>
            <c:showLegendKey val="0"/>
            <c:showVal val="1"/>
            <c:showCatName val="0"/>
            <c:showSerName val="0"/>
            <c:showPercent val="0"/>
            <c:showBubbleSize val="0"/>
            <c:showLeaderLines val="0"/>
          </c:dLbls>
          <c:cat>
            <c:strRef>
              <c:f>Sheet1!$A$2:$A$5</c:f>
              <c:strCache>
                <c:ptCount val="4"/>
                <c:pt idx="0">
                  <c:v>Repeat billing
(682)</c:v>
                </c:pt>
                <c:pt idx="1">
                  <c:v>Promo Ghosts
(435)</c:v>
                </c:pt>
                <c:pt idx="2">
                  <c:v>All customers
(8,500)</c:v>
                </c:pt>
                <c:pt idx="3">
                  <c:v>Everyone else
(7,418)</c:v>
                </c:pt>
              </c:strCache>
            </c:strRef>
          </c:cat>
          <c:val>
            <c:numRef>
              <c:f>Sheet1!$B$2:$B$5</c:f>
              <c:numCache>
                <c:formatCode>0.0%</c:formatCode>
                <c:ptCount val="4"/>
                <c:pt idx="0">
                  <c:v>0.565</c:v>
                </c:pt>
                <c:pt idx="1">
                  <c:v>0.517</c:v>
                </c:pt>
                <c:pt idx="2">
                  <c:v>0</c:v>
                </c:pt>
                <c:pt idx="3">
                  <c:v>0</c:v>
                </c:pt>
              </c:numCache>
            </c:numRef>
          </c:val>
        </c:ser>
        <c:ser>
          <c:idx val="1"/>
          <c:order val="1"/>
          <c:tx>
            <c:strRef>
              <c:f>Sheet1!$C$1</c:f>
              <c:strCache>
                <c:ptCount val="1"/>
                <c:pt idx="0">
                  <c:v>Other</c:v>
                </c:pt>
              </c:strCache>
            </c:strRef>
          </c:tx>
          <c:spPr>
            <a:solidFill>
              <a:srgbClr val="B5B5B5"/>
            </a:solidFill>
            <a:effectLst/>
          </c:spPr>
          <c:invertIfNegative val="0"/>
          <c:dLbls>
            <c:numFmt formatCode="0.0%;;" sourceLinked="0"/>
            <c:txPr>
              <a:bodyPr/>
              <a:lstStyle/>
              <a:p>
                <a:pPr>
                  <a:defRPr b="1" i="0" strike="noStrike" sz="1200" u="none">
                    <a:solidFill>
                      <a:srgbClr val="333333"/>
                    </a:solidFill>
                    <a:latin typeface="+mn-lt"/>
                  </a:defRPr>
                </a:pPr>
              </a:p>
            </c:txPr>
            <c:dLblPos val="outEnd"/>
            <c:showLegendKey val="0"/>
            <c:showVal val="1"/>
            <c:showCatName val="0"/>
            <c:showSerName val="0"/>
            <c:showPercent val="0"/>
            <c:showBubbleSize val="0"/>
            <c:showLeaderLines val="0"/>
          </c:dLbls>
          <c:cat>
            <c:strRef>
              <c:f>Sheet1!$A$2:$A$5</c:f>
              <c:strCache>
                <c:ptCount val="4"/>
                <c:pt idx="0">
                  <c:v>Repeat billing
(682)</c:v>
                </c:pt>
                <c:pt idx="1">
                  <c:v>Promo Ghosts
(435)</c:v>
                </c:pt>
                <c:pt idx="2">
                  <c:v>All customers
(8,500)</c:v>
                </c:pt>
                <c:pt idx="3">
                  <c:v>Everyone else
(7,418)</c:v>
                </c:pt>
              </c:strCache>
            </c:strRef>
          </c:cat>
          <c:val>
            <c:numRef>
              <c:f>Sheet1!$C$2:$C$5</c:f>
              <c:numCache>
                <c:formatCode>0.0%</c:formatCode>
                <c:ptCount val="4"/>
                <c:pt idx="0">
                  <c:v>0</c:v>
                </c:pt>
                <c:pt idx="1">
                  <c:v>0</c:v>
                </c:pt>
                <c:pt idx="2">
                  <c:v>0.097</c:v>
                </c:pt>
                <c:pt idx="3">
                  <c:v>0.031</c:v>
                </c:pt>
              </c:numCache>
            </c:numRef>
          </c:val>
        </c:ser>
        <c:dLbls>
          <c:numFmt formatCode="0.0%;;" sourceLinked="0"/>
          <c:txPr>
            <a:bodyPr/>
            <a:lstStyle/>
            <a:p>
              <a:pPr>
                <a:defRPr b="1" i="0" strike="noStrike" sz="1200" u="none">
                  <a:solidFill>
                    <a:srgbClr val="333333"/>
                  </a:solidFill>
                  <a:latin typeface="+mn-lt"/>
                </a:defRPr>
              </a:pPr>
            </a:p>
          </c:txPr>
          <c:dLblPos val="out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333333"/>
                </a:solidFill>
                <a:latin typeface="+mn-lt"/>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33333"/>
                </a:solidFill>
                <a:latin typeface="+mn-lt"/>
              </a:defRPr>
            </a:pPr>
            <a:r>
              <a:rPr sz="1300" b="0" i="0" u="none" strike="noStrike">
                <a:solidFill>
                  <a:srgbClr val="333333"/>
                </a:solidFill>
                <a:latin typeface="+mn-lt"/>
              </a:rPr>
              <a:t>% of customers who left, by topic of last support ticket</a:t>
            </a:r>
          </a:p>
        </c:rich>
      </c:tx>
      <c:layout/>
      <c:overlay val="0"/>
    </c:title>
    <c:autoTitleDeleted val="0"/>
    <c:plotArea>
      <c:layout/>
      <c:barChart>
        <c:barDir val="bar"/>
        <c:grouping val="clustered"/>
        <c:varyColors val="0"/>
        <c:ser>
          <c:idx val="0"/>
          <c:order val="0"/>
          <c:tx>
            <c:strRef>
              <c:f>Sheet1!$B$1</c:f>
              <c:strCache>
                <c:ptCount val="1"/>
                <c:pt idx="0">
                  <c:v>Highlight</c:v>
                </c:pt>
              </c:strCache>
            </c:strRef>
          </c:tx>
          <c:spPr>
            <a:solidFill>
              <a:srgbClr val="A8322A"/>
            </a:solidFill>
            <a:effectLst/>
          </c:spPr>
          <c:invertIfNegative val="0"/>
          <c:dLbls>
            <c:numFmt formatCode="0.0%;;" sourceLinked="0"/>
            <c:txPr>
              <a:bodyPr/>
              <a:lstStyle/>
              <a:p>
                <a:pPr>
                  <a:defRPr b="1" i="0" strike="noStrike" sz="1200" u="none">
                    <a:solidFill>
                      <a:srgbClr val="333333"/>
                    </a:solidFill>
                    <a:latin typeface="+mn-lt"/>
                  </a:defRPr>
                </a:pPr>
              </a:p>
            </c:txPr>
            <c:dLblPos val="outEnd"/>
            <c:showLegendKey val="0"/>
            <c:showVal val="1"/>
            <c:showCatName val="0"/>
            <c:showSerName val="0"/>
            <c:showPercent val="0"/>
            <c:showBubbleSize val="0"/>
            <c:showLeaderLines val="0"/>
          </c:dLbls>
          <c:cat>
            <c:strRef>
              <c:f>Sheet1!$A$2:$A$6</c:f>
              <c:strCache>
                <c:ptCount val="5"/>
                <c:pt idx="0">
                  <c:v>Playback (1,209)</c:v>
                </c:pt>
                <c:pt idx="1">
                  <c:v>No ticket (4,620)</c:v>
                </c:pt>
                <c:pt idx="2">
                  <c:v>Account (661)</c:v>
                </c:pt>
                <c:pt idx="3">
                  <c:v>Content (481)</c:v>
                </c:pt>
                <c:pt idx="4">
                  <c:v>Billing (1,529)</c:v>
                </c:pt>
              </c:strCache>
            </c:strRef>
          </c:cat>
          <c:val>
            <c:numRef>
              <c:f>Sheet1!$B$2:$B$6</c:f>
              <c:numCache>
                <c:formatCode>0.0%</c:formatCode>
                <c:ptCount val="5"/>
                <c:pt idx="0">
                  <c:v>0</c:v>
                </c:pt>
                <c:pt idx="1">
                  <c:v>0</c:v>
                </c:pt>
                <c:pt idx="2">
                  <c:v>0</c:v>
                </c:pt>
                <c:pt idx="3">
                  <c:v>0</c:v>
                </c:pt>
                <c:pt idx="4">
                  <c:v>0.281</c:v>
                </c:pt>
              </c:numCache>
            </c:numRef>
          </c:val>
        </c:ser>
        <c:ser>
          <c:idx val="1"/>
          <c:order val="1"/>
          <c:tx>
            <c:strRef>
              <c:f>Sheet1!$C$1</c:f>
              <c:strCache>
                <c:ptCount val="1"/>
                <c:pt idx="0">
                  <c:v>Other</c:v>
                </c:pt>
              </c:strCache>
            </c:strRef>
          </c:tx>
          <c:spPr>
            <a:solidFill>
              <a:srgbClr val="B5B5B5"/>
            </a:solidFill>
            <a:effectLst/>
          </c:spPr>
          <c:invertIfNegative val="0"/>
          <c:dLbls>
            <c:numFmt formatCode="0.0%;;" sourceLinked="0"/>
            <c:txPr>
              <a:bodyPr/>
              <a:lstStyle/>
              <a:p>
                <a:pPr>
                  <a:defRPr b="1" i="0" strike="noStrike" sz="1200" u="none">
                    <a:solidFill>
                      <a:srgbClr val="333333"/>
                    </a:solidFill>
                    <a:latin typeface="+mn-lt"/>
                  </a:defRPr>
                </a:pPr>
              </a:p>
            </c:txPr>
            <c:dLblPos val="outEnd"/>
            <c:showLegendKey val="0"/>
            <c:showVal val="1"/>
            <c:showCatName val="0"/>
            <c:showSerName val="0"/>
            <c:showPercent val="0"/>
            <c:showBubbleSize val="0"/>
            <c:showLeaderLines val="0"/>
          </c:dLbls>
          <c:cat>
            <c:strRef>
              <c:f>Sheet1!$A$2:$A$6</c:f>
              <c:strCache>
                <c:ptCount val="5"/>
                <c:pt idx="0">
                  <c:v>Playback (1,209)</c:v>
                </c:pt>
                <c:pt idx="1">
                  <c:v>No ticket (4,620)</c:v>
                </c:pt>
                <c:pt idx="2">
                  <c:v>Account (661)</c:v>
                </c:pt>
                <c:pt idx="3">
                  <c:v>Content (481)</c:v>
                </c:pt>
                <c:pt idx="4">
                  <c:v>Billing (1,529)</c:v>
                </c:pt>
              </c:strCache>
            </c:strRef>
          </c:cat>
          <c:val>
            <c:numRef>
              <c:f>Sheet1!$C$2:$C$6</c:f>
              <c:numCache>
                <c:formatCode>0.0%</c:formatCode>
                <c:ptCount val="5"/>
                <c:pt idx="0">
                  <c:v>0.049</c:v>
                </c:pt>
                <c:pt idx="1">
                  <c:v>0.057</c:v>
                </c:pt>
                <c:pt idx="2">
                  <c:v>0.059</c:v>
                </c:pt>
                <c:pt idx="3">
                  <c:v>0.069</c:v>
                </c:pt>
                <c:pt idx="4">
                  <c:v>0</c:v>
                </c:pt>
              </c:numCache>
            </c:numRef>
          </c:val>
        </c:ser>
        <c:dLbls>
          <c:numFmt formatCode="0.0%;;" sourceLinked="0"/>
          <c:txPr>
            <a:bodyPr/>
            <a:lstStyle/>
            <a:p>
              <a:pPr>
                <a:defRPr b="1" i="0" strike="noStrike" sz="1200" u="none">
                  <a:solidFill>
                    <a:srgbClr val="333333"/>
                  </a:solidFill>
                  <a:latin typeface="+mn-lt"/>
                </a:defRPr>
              </a:pPr>
            </a:p>
          </c:txPr>
          <c:dLblPos val="out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333333"/>
                </a:solidFill>
                <a:latin typeface="+mn-lt"/>
              </a:defRPr>
            </a:pPr>
            <a:endParaRPr lang="en-US"/>
          </a:p>
        </c:txPr>
        <c:crossAx val="2094734552"/>
        <c:crosses val="autoZero"/>
        <c:auto val="1"/>
        <c:lblAlgn val="ctr"/>
        <c:noMultiLvlLbl val="1"/>
      </c:catAx>
      <c:valAx>
        <c:axId val="2094734552"/>
        <c:scaling>
          <c:orientation val="minMax"/>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~20 sec. Hook: churn jumped from 4.1% to 9.7% with no price change, no feature cuts, no scandal. Leadership was told "it's complicated." It isn't. We found who is leaving, why, and one fix the Growth team can launch Monday.</a:t>
            </a:r>
            <a:endParaRPr/>
          </a:p>
        </p:txBody>
      </p:sp>
      <p:sp>
        <p:nvSpPr>
          <p:cNvPr id="22" name="Google Shape;2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 name="Google Shape;3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~45 sec. Lead with the answer.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- 13%: share of ALL customers who are in one of two groups: repeat billing problems, or partner-promo sign-ups who barely listen.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- 72%: of the 825 customers who left, 592 came from those two groups.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- 3.1%: everyone outside those groups barely leaves.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surprise: one billing ticket is harmless (5.3% leave). The SECOND billing ticket is the alarm bell (56.5% leave).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Two kinds of percentages in this deck: "X% left" = share of a group who cancelled; "X% of all churn" = that group's slice of the 825 who left.</a:t>
            </a:r>
            <a:endParaRPr/>
          </a:p>
        </p:txBody>
      </p:sp>
      <p:sp>
        <p:nvSpPr>
          <p:cNvPr id="37" name="Google Shape;3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~40 sec. Data handling: we checked every row first; nothing needed removing, so every number traces back to the full 8,500.</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Depth: we didn't stop at the first interesting result. We tested 9 factors, then combinations, then let a simple model (random forest) rank the drivers. It ranked the same top four: ticket count, billing topic, low-usage listening, partner-promo signup.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Every group in this deck is a simple filter anyone can re-run (e.g., ticket topic = Billing AND 2+ tickets).</a:t>
            </a:r>
            <a:endParaRPr/>
          </a:p>
        </p:txBody>
      </p:sp>
      <p:sp>
        <p:nvSpPr>
          <p:cNvPr id="56" name="Google Shape;5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~50 sec. One billing ticket is harmless: 5.3% leave, no worse than customers with no ticket (5.7%).</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second billing ticket changes everything: 56.5% of these customers left. That's 10x more likely.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Meaning: the first contact didn't fix the problem, and the customer gives up.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Why it matters: this one group is 8% of customers but 47% of everyone who left.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Q&amp;A: "Isn't it just unhappy people who file lots of tickets?" No: customers with 2+ tickets on non-billing topics leave at only 6.1%. It's billing specifically.</a:t>
            </a:r>
            <a:endParaRPr/>
          </a:p>
        </p:txBody>
      </p:sp>
      <p:sp>
        <p:nvSpPr>
          <p:cNvPr id="84" name="Google Shape;8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~45 sec. Partner promos aren't the problem: promo customers who actually listen leave at about 7%, same as everyone else.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Low usage isn't the problem on its own either: low-usage customers from other channels leave at 7.6%.</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It's the combination: people who joined through a partner deal and never got into the product. 51.7% of them left.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twist: 350 of the 435 are on Premium, and 63% of those left. That's why Premium looks like a high-churn plan overall (13.2%). Outside the two risky groups, Premium churn is only 3.1%.</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This group is 27% of everyone who left (225 of 825).</a:t>
            </a:r>
            <a:endParaRPr/>
          </a:p>
        </p:txBody>
      </p:sp>
      <p:sp>
        <p:nvSpPr>
          <p:cNvPr id="107" name="Google Shape;10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~35 sec. Make the contrast obvious: in the risky groups, more than half leave. Everyone else: about 3 in 100.</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For everyone else, churn stays between roughly 2.5% and 4% whatever their age, plan, payment method or signup channel. There's no hidden third problem.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Q&amp;A: the two groups overlap by only 35 people, so they are two separate problems with two separate fixes. 682 + 435 + 7,418 = 8,535 because those 35 count in both.</a:t>
            </a:r>
            <a:endParaRPr/>
          </a:p>
        </p:txBody>
      </p:sp>
      <p:sp>
        <p:nvSpPr>
          <p:cNvPr id="130" name="Google Shape;13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~40 sec. Ranking is by how much each clue raises the chance of leaving and how many customers it covers.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#1 billing tickets is the strongest and the only one with a clear moment we can act on.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#2 and #3 are each moderate alone (about 22%) but together they create the Promo Ghosts (51.7%).</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Honesty point for Q&amp;A: these are patterns in the data, not proof of cause. That's exactly why our recommendation starts with a controlled 30-day test before rollout.</a:t>
            </a:r>
            <a:endParaRPr/>
          </a:p>
        </p:txBody>
      </p:sp>
      <p:sp>
        <p:nvSpPr>
          <p:cNvPr id="149" name="Google Shape;14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~45 sec. This is where we earn trust: we tested what leadership suspected and cleared 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Playback: leadership suspected it. The data says playback complainers stay: 4.9% left, below average.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Lots of tickets: it's not ticket volume. 2+ tickets on other topics: 6.1% left. Billing is the problem.</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Premium plan: looks risky (13.2%), but that's the Promo Ghosts hiding inside it. Outside the two groups, Premium is 3.1%.</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Listening hours (10.5 vs 10.7 hrs/week, left vs stayed), payment method, age and tenure all sit within about 2 points of average.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What we didn't have time to test: why the billing issues happen (we have no invoice data), and whether partner terms differ.</a:t>
            </a:r>
            <a:endParaRPr/>
          </a:p>
        </p:txBody>
      </p:sp>
      <p:sp>
        <p:nvSpPr>
          <p:cNvPr id="179" name="Google Shape;17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~60 sec. One sentence: when a customer opens a second billing ticket, a billing specialist owns it, fixes it on that contact, and adds a one-month credit.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Who: 297 customers are in this situation today and haven't left yet. A daily query (topic = Billing AND tickets &gt;= 2) flags new ones automatically.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Why billing before Promo Ghosts: bigger (47% vs 27% of churn), more lost revenue ($4.1K vs $2.9K a month in this data), a clear trigger the support team already sees, and a cause we control. Promo Ghosts need product onboarding and partner changes: that's Case #2.</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Cost (estimate, sample scale): about 682 customers hit a second billing ticket per 90 days, about 227 a month; a one-month credit at the ~$10.60 average bill is about $2.4K a month, plus specialist time. A credit costs one month of revenue; a saved customer keeps paying.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Value (scenario, not a promise): if we cut this group's churn in half, we keep about 190 customers and about $2K a month in revenue, before counting the +18% higher cost of replacing them.</a:t>
            </a:r>
            <a:endParaRPr/>
          </a:p>
        </p:txBody>
      </p:sp>
      <p:sp>
        <p:nvSpPr>
          <p:cNvPr id="202" name="Google Shape;20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~40 sec. Simple experiment: random 50/50 split of customers at their second billing ticket, so the only difference between the groups is the fix.</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Three numbers on one dashboard: 1) % who cancel within 30 days (main measure), 2) % who open a third ticket, 3) % solved on first contact.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Target: the fix group cancels at least 10 points less than control (a goal we set, not a forecast). Day-30 decision: if the fix group's churn is clearly below the control group's, scale it to all customers. If not, we've lost little: one month of credits for a small group.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Then open Case #2: onboarding for partner-promo sign-ups who aren't listening.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Close: "Case closed. Happy to take questions." </a:t>
            </a:r>
            <a:endParaRPr/>
          </a:p>
        </p:txBody>
      </p:sp>
      <p:sp>
        <p:nvSpPr>
          <p:cNvPr id="227" name="Google Shape;22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h6d3231e9f849691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h6d3231e9f8496912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sentence, one target group, a clear trigger. Revenue figures are from the 8,500-subscriber sample.</a:t>
            </a:r>
            <a:endParaRPr/>
          </a:p>
        </p:txBody>
      </p:sp>
      <p:sp>
        <p:nvSpPr>
          <p:cNvPr id="236" name="Google Shape;236;h6d3231e9f8496912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h6d3231e9f8496912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49" name="Google Shape;249;h6d3231e9f8496912_0_2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h6d3231e9f8496912_0_2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DARK">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12"/>
          <p:cNvSpPr txBox="1"/>
          <p:nvPr>
            <p:ph type="title"/>
          </p:nvPr>
        </p:nvSpPr>
        <p:spPr>
          <a:xfrm>
            <a:off x="548640" y="1417320"/>
            <a:ext cx="8046720" cy="13716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4000"/>
              <a:buFont typeface="Bookman Old Style"/>
              <a:buNone/>
              <a:defRPr b="1" i="0" sz="4000" u="none" cap="none" strike="noStrike">
                <a:solidFill>
                  <a:schemeClr val="lt1"/>
                </a:solidFill>
                <a:latin typeface="Bookman Old Style"/>
                <a:ea typeface="Bookman Old Style"/>
                <a:cs typeface="Bookman Old Style"/>
                <a:sym typeface="Bookman Old Styl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2"/>
          <p:cNvSpPr txBox="1"/>
          <p:nvPr>
            <p:ph idx="1" type="body"/>
          </p:nvPr>
        </p:nvSpPr>
        <p:spPr>
          <a:xfrm>
            <a:off x="548640" y="2880360"/>
            <a:ext cx="5669280" cy="82296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Clr>
                <a:schemeClr val="lt1"/>
              </a:buClr>
              <a:buSzPts val="1800"/>
              <a:buFont typeface="Arial"/>
              <a:buNone/>
              <a:defRPr b="0" i="0" sz="1800" u="none" cap="none" strike="noStrike">
                <a:solidFill>
                  <a:schemeClr val="lt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blipFill>
          <a:blip r:embed="rId2">
            <a:alphaModFix/>
          </a:blip>
          <a:stretch>
            <a:fillRect/>
          </a:stretch>
        </a:blipFill>
      </p:bgPr>
    </p:bg>
    <p:spTree>
      <p:nvGrpSpPr>
        <p:cNvPr id="14" name="Shape 14"/>
        <p:cNvGrpSpPr/>
        <p:nvPr/>
      </p:nvGrpSpPr>
      <p:grpSpPr>
        <a:xfrm>
          <a:off x="0" y="0"/>
          <a:ext cx="0" cy="0"/>
          <a:chOff x="0" y="0"/>
          <a:chExt cx="0" cy="0"/>
        </a:xfrm>
      </p:grpSpPr>
      <p:sp>
        <p:nvSpPr>
          <p:cNvPr id="15" name="Google Shape;15;p13"/>
          <p:cNvSpPr txBox="1"/>
          <p:nvPr>
            <p:ph type="title"/>
          </p:nvPr>
        </p:nvSpPr>
        <p:spPr>
          <a:xfrm>
            <a:off x="457200" y="502920"/>
            <a:ext cx="8229600" cy="6858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2"/>
              </a:buClr>
              <a:buSzPts val="2800"/>
              <a:buFont typeface="Bookman Old Style"/>
              <a:buNone/>
              <a:defRPr b="1" i="0" sz="2800" u="none" cap="none" strike="noStrike">
                <a:solidFill>
                  <a:schemeClr val="dk2"/>
                </a:solidFill>
                <a:latin typeface="Bookman Old Style"/>
                <a:ea typeface="Bookman Old Style"/>
                <a:cs typeface="Bookman Old Style"/>
                <a:sym typeface="Bookman Old Styl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 name="Google Shape;16;p13"/>
          <p:cNvSpPr/>
          <p:nvPr/>
        </p:nvSpPr>
        <p:spPr>
          <a:xfrm>
            <a:off x="457200" y="4754880"/>
            <a:ext cx="5486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900"/>
              <a:buFont typeface="Courier New"/>
              <a:buNone/>
            </a:pPr>
            <a:r>
              <a:rPr b="0" i="0" lang="en-US" sz="900" u="none" cap="none" strike="noStrike">
                <a:solidFill>
                  <a:srgbClr val="6B6B6B"/>
                </a:solidFill>
                <a:latin typeface="Courier New"/>
                <a:ea typeface="Courier New"/>
                <a:cs typeface="Courier New"/>
                <a:sym typeface="Courier New"/>
              </a:rPr>
              <a:t>CONFIDENTIAL  ·  SONICWAVE CASE FILE  ·  CASE CLOSED 2026</a:t>
            </a:r>
            <a:endParaRPr b="0" i="0" sz="900" u="none" cap="none" strike="noStrike">
              <a:solidFill>
                <a:schemeClr val="dk1"/>
              </a:solidFill>
              <a:latin typeface="Calibri"/>
              <a:ea typeface="Calibri"/>
              <a:cs typeface="Calibri"/>
              <a:sym typeface="Calibri"/>
            </a:endParaRPr>
          </a:p>
        </p:txBody>
      </p:sp>
      <p:sp>
        <p:nvSpPr>
          <p:cNvPr id="17" name="Google Shape;17;p13"/>
          <p:cNvSpPr txBox="1"/>
          <p:nvPr>
            <p:ph idx="12" type="sldNum"/>
          </p:nvPr>
        </p:nvSpPr>
        <p:spPr>
          <a:xfrm>
            <a:off x="8229600" y="4754880"/>
            <a:ext cx="457200" cy="22860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900" u="none" cap="none" strike="noStrike">
                <a:solidFill>
                  <a:srgbClr val="6B6B6B"/>
                </a:solidFill>
                <a:latin typeface="Courier New"/>
                <a:ea typeface="Courier New"/>
                <a:cs typeface="Courier New"/>
                <a:sym typeface="Courier New"/>
              </a:defRPr>
            </a:lvl1pPr>
            <a:lvl2pPr indent="0" lvl="1" marL="0" marR="0" algn="r">
              <a:spcBef>
                <a:spcPts val="0"/>
              </a:spcBef>
              <a:buNone/>
              <a:defRPr b="0" i="0" sz="900" u="none" cap="none" strike="noStrike">
                <a:solidFill>
                  <a:srgbClr val="6B6B6B"/>
                </a:solidFill>
                <a:latin typeface="Courier New"/>
                <a:ea typeface="Courier New"/>
                <a:cs typeface="Courier New"/>
                <a:sym typeface="Courier New"/>
              </a:defRPr>
            </a:lvl2pPr>
            <a:lvl3pPr indent="0" lvl="2" marL="0" marR="0" algn="r">
              <a:spcBef>
                <a:spcPts val="0"/>
              </a:spcBef>
              <a:buNone/>
              <a:defRPr b="0" i="0" sz="900" u="none" cap="none" strike="noStrike">
                <a:solidFill>
                  <a:srgbClr val="6B6B6B"/>
                </a:solidFill>
                <a:latin typeface="Courier New"/>
                <a:ea typeface="Courier New"/>
                <a:cs typeface="Courier New"/>
                <a:sym typeface="Courier New"/>
              </a:defRPr>
            </a:lvl3pPr>
            <a:lvl4pPr indent="0" lvl="3" marL="0" marR="0" algn="r">
              <a:spcBef>
                <a:spcPts val="0"/>
              </a:spcBef>
              <a:buNone/>
              <a:defRPr b="0" i="0" sz="900" u="none" cap="none" strike="noStrike">
                <a:solidFill>
                  <a:srgbClr val="6B6B6B"/>
                </a:solidFill>
                <a:latin typeface="Courier New"/>
                <a:ea typeface="Courier New"/>
                <a:cs typeface="Courier New"/>
                <a:sym typeface="Courier New"/>
              </a:defRPr>
            </a:lvl4pPr>
            <a:lvl5pPr indent="0" lvl="4" marL="0" marR="0" algn="r">
              <a:spcBef>
                <a:spcPts val="0"/>
              </a:spcBef>
              <a:buNone/>
              <a:defRPr b="0" i="0" sz="900" u="none" cap="none" strike="noStrike">
                <a:solidFill>
                  <a:srgbClr val="6B6B6B"/>
                </a:solidFill>
                <a:latin typeface="Courier New"/>
                <a:ea typeface="Courier New"/>
                <a:cs typeface="Courier New"/>
                <a:sym typeface="Courier New"/>
              </a:defRPr>
            </a:lvl5pPr>
            <a:lvl6pPr indent="0" lvl="5" marL="0" marR="0" algn="r">
              <a:spcBef>
                <a:spcPts val="0"/>
              </a:spcBef>
              <a:buNone/>
              <a:defRPr b="0" i="0" sz="900" u="none" cap="none" strike="noStrike">
                <a:solidFill>
                  <a:srgbClr val="6B6B6B"/>
                </a:solidFill>
                <a:latin typeface="Courier New"/>
                <a:ea typeface="Courier New"/>
                <a:cs typeface="Courier New"/>
                <a:sym typeface="Courier New"/>
              </a:defRPr>
            </a:lvl6pPr>
            <a:lvl7pPr indent="0" lvl="6" marL="0" marR="0" algn="r">
              <a:spcBef>
                <a:spcPts val="0"/>
              </a:spcBef>
              <a:buNone/>
              <a:defRPr b="0" i="0" sz="900" u="none" cap="none" strike="noStrike">
                <a:solidFill>
                  <a:srgbClr val="6B6B6B"/>
                </a:solidFill>
                <a:latin typeface="Courier New"/>
                <a:ea typeface="Courier New"/>
                <a:cs typeface="Courier New"/>
                <a:sym typeface="Courier New"/>
              </a:defRPr>
            </a:lvl7pPr>
            <a:lvl8pPr indent="0" lvl="7" marL="0" marR="0" algn="r">
              <a:spcBef>
                <a:spcPts val="0"/>
              </a:spcBef>
              <a:buNone/>
              <a:defRPr b="0" i="0" sz="900" u="none" cap="none" strike="noStrike">
                <a:solidFill>
                  <a:srgbClr val="6B6B6B"/>
                </a:solidFill>
                <a:latin typeface="Courier New"/>
                <a:ea typeface="Courier New"/>
                <a:cs typeface="Courier New"/>
                <a:sym typeface="Courier New"/>
              </a:defRPr>
            </a:lvl8pPr>
            <a:lvl9pPr indent="0" lvl="8" marL="0" marR="0" algn="r">
              <a:spcBef>
                <a:spcPts val="0"/>
              </a:spcBef>
              <a:buNone/>
              <a:defRPr b="0" i="0" sz="900" u="none" cap="none" strike="noStrike">
                <a:solidFill>
                  <a:srgbClr val="6B6B6B"/>
                </a:solidFill>
                <a:latin typeface="Courier New"/>
                <a:ea typeface="Courier New"/>
                <a:cs typeface="Courier New"/>
                <a:sym typeface="Courier New"/>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8" name="Shape 1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1"/>
          <p:cNvSpPr txBox="1"/>
          <p:nvPr>
            <p:ph idx="12" type="sldNum"/>
          </p:nvPr>
        </p:nvSpPr>
        <p:spPr>
          <a:xfrm>
            <a:off x="8229600" y="4754880"/>
            <a:ext cx="457200" cy="2286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900" u="none" cap="none" strike="noStrike">
                <a:solidFill>
                  <a:srgbClr val="6B6B6B"/>
                </a:solidFill>
                <a:latin typeface="Courier New"/>
                <a:ea typeface="Courier New"/>
                <a:cs typeface="Courier New"/>
                <a:sym typeface="Courier New"/>
              </a:defRPr>
            </a:lvl1pPr>
            <a:lvl2pPr indent="0" lvl="1" marL="0" marR="0" rtl="0" algn="r">
              <a:spcBef>
                <a:spcPts val="0"/>
              </a:spcBef>
              <a:buNone/>
              <a:defRPr b="0" i="0" sz="900" u="none" cap="none" strike="noStrike">
                <a:solidFill>
                  <a:srgbClr val="6B6B6B"/>
                </a:solidFill>
                <a:latin typeface="Courier New"/>
                <a:ea typeface="Courier New"/>
                <a:cs typeface="Courier New"/>
                <a:sym typeface="Courier New"/>
              </a:defRPr>
            </a:lvl2pPr>
            <a:lvl3pPr indent="0" lvl="2" marL="0" marR="0" rtl="0" algn="r">
              <a:spcBef>
                <a:spcPts val="0"/>
              </a:spcBef>
              <a:buNone/>
              <a:defRPr b="0" i="0" sz="900" u="none" cap="none" strike="noStrike">
                <a:solidFill>
                  <a:srgbClr val="6B6B6B"/>
                </a:solidFill>
                <a:latin typeface="Courier New"/>
                <a:ea typeface="Courier New"/>
                <a:cs typeface="Courier New"/>
                <a:sym typeface="Courier New"/>
              </a:defRPr>
            </a:lvl3pPr>
            <a:lvl4pPr indent="0" lvl="3" marL="0" marR="0" rtl="0" algn="r">
              <a:spcBef>
                <a:spcPts val="0"/>
              </a:spcBef>
              <a:buNone/>
              <a:defRPr b="0" i="0" sz="900" u="none" cap="none" strike="noStrike">
                <a:solidFill>
                  <a:srgbClr val="6B6B6B"/>
                </a:solidFill>
                <a:latin typeface="Courier New"/>
                <a:ea typeface="Courier New"/>
                <a:cs typeface="Courier New"/>
                <a:sym typeface="Courier New"/>
              </a:defRPr>
            </a:lvl4pPr>
            <a:lvl5pPr indent="0" lvl="4" marL="0" marR="0" rtl="0" algn="r">
              <a:spcBef>
                <a:spcPts val="0"/>
              </a:spcBef>
              <a:buNone/>
              <a:defRPr b="0" i="0" sz="900" u="none" cap="none" strike="noStrike">
                <a:solidFill>
                  <a:srgbClr val="6B6B6B"/>
                </a:solidFill>
                <a:latin typeface="Courier New"/>
                <a:ea typeface="Courier New"/>
                <a:cs typeface="Courier New"/>
                <a:sym typeface="Courier New"/>
              </a:defRPr>
            </a:lvl5pPr>
            <a:lvl6pPr indent="0" lvl="5" marL="0" marR="0" rtl="0" algn="r">
              <a:spcBef>
                <a:spcPts val="0"/>
              </a:spcBef>
              <a:buNone/>
              <a:defRPr b="0" i="0" sz="900" u="none" cap="none" strike="noStrike">
                <a:solidFill>
                  <a:srgbClr val="6B6B6B"/>
                </a:solidFill>
                <a:latin typeface="Courier New"/>
                <a:ea typeface="Courier New"/>
                <a:cs typeface="Courier New"/>
                <a:sym typeface="Courier New"/>
              </a:defRPr>
            </a:lvl6pPr>
            <a:lvl7pPr indent="0" lvl="6" marL="0" marR="0" rtl="0" algn="r">
              <a:spcBef>
                <a:spcPts val="0"/>
              </a:spcBef>
              <a:buNone/>
              <a:defRPr b="0" i="0" sz="900" u="none" cap="none" strike="noStrike">
                <a:solidFill>
                  <a:srgbClr val="6B6B6B"/>
                </a:solidFill>
                <a:latin typeface="Courier New"/>
                <a:ea typeface="Courier New"/>
                <a:cs typeface="Courier New"/>
                <a:sym typeface="Courier New"/>
              </a:defRPr>
            </a:lvl7pPr>
            <a:lvl8pPr indent="0" lvl="7" marL="0" marR="0" rtl="0" algn="r">
              <a:spcBef>
                <a:spcPts val="0"/>
              </a:spcBef>
              <a:buNone/>
              <a:defRPr b="0" i="0" sz="900" u="none" cap="none" strike="noStrike">
                <a:solidFill>
                  <a:srgbClr val="6B6B6B"/>
                </a:solidFill>
                <a:latin typeface="Courier New"/>
                <a:ea typeface="Courier New"/>
                <a:cs typeface="Courier New"/>
                <a:sym typeface="Courier New"/>
              </a:defRPr>
            </a:lvl8pPr>
            <a:lvl9pPr indent="0" lvl="8" marL="0" marR="0" rtl="0" algn="r">
              <a:spcBef>
                <a:spcPts val="0"/>
              </a:spcBef>
              <a:buNone/>
              <a:defRPr b="0" i="0" sz="900" u="none" cap="none" strike="noStrike">
                <a:solidFill>
                  <a:srgbClr val="6B6B6B"/>
                </a:solidFill>
                <a:latin typeface="Courier New"/>
                <a:ea typeface="Courier New"/>
                <a:cs typeface="Courier New"/>
                <a:sym typeface="Courier New"/>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chart" Target="../charts/char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 name="Shape 23"/>
        <p:cNvGrpSpPr/>
        <p:nvPr/>
      </p:nvGrpSpPr>
      <p:grpSpPr>
        <a:xfrm>
          <a:off x="0" y="0"/>
          <a:ext cx="0" cy="0"/>
          <a:chOff x="0" y="0"/>
          <a:chExt cx="0" cy="0"/>
        </a:xfrm>
      </p:grpSpPr>
      <p:sp>
        <p:nvSpPr>
          <p:cNvPr id="24" name="Google Shape;24;p1"/>
          <p:cNvSpPr/>
          <p:nvPr/>
        </p:nvSpPr>
        <p:spPr>
          <a:xfrm>
            <a:off x="548640" y="914400"/>
            <a:ext cx="1737360" cy="256032"/>
          </a:xfrm>
          <a:prstGeom prst="roundRect">
            <a:avLst>
              <a:gd fmla="val 17857" name="adj"/>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
          <p:cNvSpPr txBox="1"/>
          <p:nvPr/>
        </p:nvSpPr>
        <p:spPr>
          <a:xfrm>
            <a:off x="548640" y="914400"/>
            <a:ext cx="17373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000"/>
              <a:buFont typeface="Courier New"/>
              <a:buNone/>
            </a:pPr>
            <a:r>
              <a:rPr b="1" i="0" lang="en-US" sz="1000" u="none" cap="none" strike="noStrike">
                <a:solidFill>
                  <a:schemeClr val="lt1"/>
                </a:solidFill>
                <a:latin typeface="Courier New"/>
                <a:ea typeface="Courier New"/>
                <a:cs typeface="Courier New"/>
                <a:sym typeface="Courier New"/>
              </a:rPr>
              <a:t>CASE FILE #2026-SW</a:t>
            </a:r>
            <a:endParaRPr b="0" i="0" sz="1000" u="none" cap="none" strike="noStrike">
              <a:solidFill>
                <a:schemeClr val="dk1"/>
              </a:solidFill>
              <a:latin typeface="Calibri"/>
              <a:ea typeface="Calibri"/>
              <a:cs typeface="Calibri"/>
              <a:sym typeface="Calibri"/>
            </a:endParaRPr>
          </a:p>
        </p:txBody>
      </p:sp>
      <p:sp>
        <p:nvSpPr>
          <p:cNvPr id="26" name="Google Shape;26;p1"/>
          <p:cNvSpPr txBox="1"/>
          <p:nvPr>
            <p:ph type="title"/>
          </p:nvPr>
        </p:nvSpPr>
        <p:spPr>
          <a:xfrm>
            <a:off x="548640" y="1417320"/>
            <a:ext cx="8046720" cy="1371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4000"/>
              <a:buFont typeface="Bookman Old Style"/>
              <a:buNone/>
            </a:pPr>
            <a:r>
              <a:rPr b="1" lang="en-US" sz="4000">
                <a:solidFill>
                  <a:schemeClr val="lt1"/>
                </a:solidFill>
                <a:latin typeface="Bookman Old Style"/>
                <a:ea typeface="Bookman Old Style"/>
                <a:cs typeface="Bookman Old Style"/>
                <a:sym typeface="Bookman Old Style"/>
              </a:rPr>
              <a:t>The Vanishing Customers: Solved</a:t>
            </a:r>
            <a:endParaRPr sz="4000"/>
          </a:p>
        </p:txBody>
      </p:sp>
      <p:sp>
        <p:nvSpPr>
          <p:cNvPr id="27" name="Google Shape;27;p1"/>
          <p:cNvSpPr txBox="1"/>
          <p:nvPr>
            <p:ph idx="1" type="body"/>
          </p:nvPr>
        </p:nvSpPr>
        <p:spPr>
          <a:xfrm>
            <a:off x="548640" y="2880360"/>
            <a:ext cx="5669280" cy="8229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1800"/>
              <a:buNone/>
            </a:pPr>
            <a:r>
              <a:rPr lang="en-US" sz="1800">
                <a:solidFill>
                  <a:schemeClr val="lt1"/>
                </a:solidFill>
                <a:latin typeface="Calibri"/>
                <a:ea typeface="Calibri"/>
                <a:cs typeface="Calibri"/>
                <a:sym typeface="Calibri"/>
              </a:rPr>
              <a:t>Most of SonicWave's churn comes from two small groups. One targeted fix goes after the biggest.</a:t>
            </a:r>
            <a:endParaRPr sz="1800"/>
          </a:p>
        </p:txBody>
      </p:sp>
      <p:sp>
        <p:nvSpPr>
          <p:cNvPr id="28" name="Google Shape;28;p1"/>
          <p:cNvSpPr/>
          <p:nvPr/>
        </p:nvSpPr>
        <p:spPr>
          <a:xfrm rot="-600000">
            <a:off x="6675120" y="640080"/>
            <a:ext cx="1828800" cy="685800"/>
          </a:xfrm>
          <a:prstGeom prst="rect">
            <a:avLst/>
          </a:prstGeom>
          <a:solidFill>
            <a:srgbClr val="FFFFFF">
              <a:alpha val="0"/>
            </a:srgbClr>
          </a:solidFill>
          <a:ln cap="flat" cmpd="sng" w="31750">
            <a:solidFill>
              <a:srgbClr val="A832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1"/>
          <p:cNvSpPr txBox="1"/>
          <p:nvPr/>
        </p:nvSpPr>
        <p:spPr>
          <a:xfrm rot="-600000">
            <a:off x="6675120" y="640080"/>
            <a:ext cx="18288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322A"/>
              </a:buClr>
              <a:buSzPts val="2400"/>
              <a:buFont typeface="Courier New"/>
              <a:buNone/>
            </a:pPr>
            <a:r>
              <a:rPr b="1" i="0" lang="en-US" sz="2400" u="none" cap="none" strike="noStrike">
                <a:solidFill>
                  <a:srgbClr val="A8322A"/>
                </a:solidFill>
                <a:latin typeface="Courier New"/>
                <a:ea typeface="Courier New"/>
                <a:cs typeface="Courier New"/>
                <a:sym typeface="Courier New"/>
              </a:rPr>
              <a:t>SOLVED</a:t>
            </a:r>
            <a:endParaRPr b="0" i="0" sz="2400" u="none" cap="none" strike="noStrike">
              <a:solidFill>
                <a:schemeClr val="dk1"/>
              </a:solidFill>
              <a:latin typeface="Calibri"/>
              <a:ea typeface="Calibri"/>
              <a:cs typeface="Calibri"/>
              <a:sym typeface="Calibri"/>
            </a:endParaRPr>
          </a:p>
        </p:txBody>
      </p:sp>
      <p:sp>
        <p:nvSpPr>
          <p:cNvPr id="30" name="Google Shape;30;p1"/>
          <p:cNvSpPr txBox="1"/>
          <p:nvPr/>
        </p:nvSpPr>
        <p:spPr>
          <a:xfrm>
            <a:off x="4937760" y="3794760"/>
            <a:ext cx="38404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C4BF"/>
              </a:buClr>
              <a:buSzPts val="1100"/>
              <a:buFont typeface="Courier New"/>
              <a:buNone/>
            </a:pPr>
            <a:r>
              <a:rPr b="1" i="0" lang="en-US" sz="1100" u="none" cap="none" strike="noStrike">
                <a:solidFill>
                  <a:srgbClr val="E8C4BF"/>
                </a:solidFill>
                <a:latin typeface="Courier New"/>
                <a:ea typeface="Courier New"/>
                <a:cs typeface="Courier New"/>
                <a:sym typeface="Courier New"/>
              </a:rPr>
              <a:t>CASE NO.  </a:t>
            </a:r>
            <a:r>
              <a:rPr b="0" i="0" lang="en-US" sz="1100" u="none" cap="none" strike="noStrike">
                <a:solidFill>
                  <a:srgbClr val="FFFFFF"/>
                </a:solidFill>
                <a:latin typeface="Courier New"/>
                <a:ea typeface="Courier New"/>
                <a:cs typeface="Courier New"/>
                <a:sym typeface="Courier New"/>
              </a:rPr>
              <a:t>2026-SW</a:t>
            </a:r>
            <a:endParaRPr b="0" i="0" sz="1100" u="none" cap="none" strike="noStrike">
              <a:solidFill>
                <a:schemeClr val="dk1"/>
              </a:solidFill>
              <a:latin typeface="Calibri"/>
              <a:ea typeface="Calibri"/>
              <a:cs typeface="Calibri"/>
              <a:sym typeface="Calibri"/>
            </a:endParaRPr>
          </a:p>
        </p:txBody>
      </p:sp>
      <p:sp>
        <p:nvSpPr>
          <p:cNvPr id="31" name="Google Shape;31;p1"/>
          <p:cNvSpPr txBox="1"/>
          <p:nvPr/>
        </p:nvSpPr>
        <p:spPr>
          <a:xfrm>
            <a:off x="4937760" y="4069080"/>
            <a:ext cx="38404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C4BF"/>
              </a:buClr>
              <a:buSzPts val="1100"/>
              <a:buFont typeface="Courier New"/>
              <a:buNone/>
            </a:pPr>
            <a:r>
              <a:rPr b="1" i="0" lang="en-US" sz="1100" u="none" cap="none" strike="noStrike">
                <a:solidFill>
                  <a:srgbClr val="E8C4BF"/>
                </a:solidFill>
                <a:latin typeface="Courier New"/>
                <a:ea typeface="Courier New"/>
                <a:cs typeface="Courier New"/>
                <a:sym typeface="Courier New"/>
              </a:rPr>
              <a:t>CLIENT    </a:t>
            </a:r>
            <a:r>
              <a:rPr b="0" i="0" lang="en-US" sz="1100" u="none" cap="none" strike="noStrike">
                <a:solidFill>
                  <a:srgbClr val="FFFFFF"/>
                </a:solidFill>
                <a:latin typeface="Courier New"/>
                <a:ea typeface="Courier New"/>
                <a:cs typeface="Courier New"/>
                <a:sym typeface="Courier New"/>
              </a:rPr>
              <a:t>SonicWave, VP of Growth</a:t>
            </a:r>
            <a:endParaRPr b="0" i="0" sz="1100" u="none" cap="none" strike="noStrike">
              <a:solidFill>
                <a:schemeClr val="dk1"/>
              </a:solidFill>
              <a:latin typeface="Calibri"/>
              <a:ea typeface="Calibri"/>
              <a:cs typeface="Calibri"/>
              <a:sym typeface="Calibri"/>
            </a:endParaRPr>
          </a:p>
        </p:txBody>
      </p:sp>
      <p:sp>
        <p:nvSpPr>
          <p:cNvPr id="32" name="Google Shape;32;p1"/>
          <p:cNvSpPr txBox="1"/>
          <p:nvPr/>
        </p:nvSpPr>
        <p:spPr>
          <a:xfrm>
            <a:off x="4937760" y="4343400"/>
            <a:ext cx="38404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C4BF"/>
              </a:buClr>
              <a:buSzPts val="1100"/>
              <a:buFont typeface="Courier New"/>
              <a:buNone/>
            </a:pPr>
            <a:r>
              <a:rPr b="1" i="0" lang="en-US" sz="1100" u="none" cap="none" strike="noStrike">
                <a:solidFill>
                  <a:srgbClr val="E8C4BF"/>
                </a:solidFill>
                <a:latin typeface="Courier New"/>
                <a:ea typeface="Courier New"/>
                <a:cs typeface="Courier New"/>
                <a:sym typeface="Courier New"/>
              </a:rPr>
              <a:t>SUBJECT   </a:t>
            </a:r>
            <a:r>
              <a:rPr b="0" i="0" lang="en-US" sz="1100" u="none" cap="none" strike="noStrike">
                <a:solidFill>
                  <a:srgbClr val="FFFFFF"/>
                </a:solidFill>
                <a:latin typeface="Courier New"/>
                <a:ea typeface="Courier New"/>
                <a:cs typeface="Courier New"/>
                <a:sym typeface="Courier New"/>
              </a:rPr>
              <a:t>Who is leaving, Jan to Sept</a:t>
            </a:r>
            <a:endParaRPr b="0" i="0" sz="1100" u="none" cap="none" strike="noStrike">
              <a:solidFill>
                <a:schemeClr val="dk1"/>
              </a:solidFill>
              <a:latin typeface="Calibri"/>
              <a:ea typeface="Calibri"/>
              <a:cs typeface="Calibri"/>
              <a:sym typeface="Calibri"/>
            </a:endParaRPr>
          </a:p>
        </p:txBody>
      </p:sp>
      <p:sp>
        <p:nvSpPr>
          <p:cNvPr id="33" name="Google Shape;33;p1"/>
          <p:cNvSpPr txBox="1"/>
          <p:nvPr/>
        </p:nvSpPr>
        <p:spPr>
          <a:xfrm>
            <a:off x="548640" y="4297680"/>
            <a:ext cx="4206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C9D6"/>
              </a:buClr>
              <a:buSzPts val="1200"/>
              <a:buFont typeface="Courier New"/>
              <a:buNone/>
            </a:pPr>
            <a:r>
              <a:rPr b="0" i="0" lang="en-US" sz="1200" u="none" cap="none" strike="noStrike">
                <a:solidFill>
                  <a:srgbClr val="C9C9D6"/>
                </a:solidFill>
                <a:latin typeface="Courier New"/>
                <a:ea typeface="Courier New"/>
                <a:cs typeface="Courier New"/>
                <a:sym typeface="Courier New"/>
              </a:rPr>
              <a:t>[Team name]  ·  Data Science &amp; Analytics Track</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sp>
        <p:nvSpPr>
          <p:cNvPr id="39" name="Google Shape;39;p2"/>
          <p:cNvSpPr/>
          <p:nvPr/>
        </p:nvSpPr>
        <p:spPr>
          <a:xfrm>
            <a:off x="457200" y="201168"/>
            <a:ext cx="1737360" cy="256032"/>
          </a:xfrm>
          <a:prstGeom prst="roundRect">
            <a:avLst>
              <a:gd fmla="val 17857" name="adj"/>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txBox="1"/>
          <p:nvPr/>
        </p:nvSpPr>
        <p:spPr>
          <a:xfrm>
            <a:off x="457200" y="201168"/>
            <a:ext cx="17373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000"/>
              <a:buFont typeface="Courier New"/>
              <a:buNone/>
            </a:pPr>
            <a:r>
              <a:rPr b="1" i="0" lang="en-US" sz="1000" u="none" cap="none" strike="noStrike">
                <a:solidFill>
                  <a:schemeClr val="lt1"/>
                </a:solidFill>
                <a:latin typeface="Courier New"/>
                <a:ea typeface="Courier New"/>
                <a:cs typeface="Courier New"/>
                <a:sym typeface="Courier New"/>
              </a:rPr>
              <a:t>CASE SUMMARY</a:t>
            </a:r>
            <a:endParaRPr b="0" i="0" sz="1000" u="none" cap="none" strike="noStrike">
              <a:solidFill>
                <a:schemeClr val="dk1"/>
              </a:solidFill>
              <a:latin typeface="Calibri"/>
              <a:ea typeface="Calibri"/>
              <a:cs typeface="Calibri"/>
              <a:sym typeface="Calibri"/>
            </a:endParaRPr>
          </a:p>
        </p:txBody>
      </p:sp>
      <p:sp>
        <p:nvSpPr>
          <p:cNvPr id="41" name="Google Shape;41;p2"/>
          <p:cNvSpPr txBox="1"/>
          <p:nvPr>
            <p:ph type="title"/>
          </p:nvPr>
        </p:nvSpPr>
        <p:spPr>
          <a:xfrm>
            <a:off x="457200" y="502920"/>
            <a:ext cx="8229600" cy="6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2800"/>
              <a:buFont typeface="Bookman Old Style"/>
              <a:buNone/>
            </a:pPr>
            <a:r>
              <a:rPr b="1" lang="en-US" sz="2800">
                <a:solidFill>
                  <a:schemeClr val="dk2"/>
                </a:solidFill>
                <a:latin typeface="Bookman Old Style"/>
                <a:ea typeface="Bookman Old Style"/>
                <a:cs typeface="Bookman Old Style"/>
                <a:sym typeface="Bookman Old Style"/>
              </a:rPr>
              <a:t>13% of customers cause 72% of the churn</a:t>
            </a:r>
            <a:endParaRPr sz="2800"/>
          </a:p>
        </p:txBody>
      </p:sp>
      <p:sp>
        <p:nvSpPr>
          <p:cNvPr id="42" name="Google Shape;42;p2"/>
          <p:cNvSpPr/>
          <p:nvPr/>
        </p:nvSpPr>
        <p:spPr>
          <a:xfrm>
            <a:off x="457200" y="1417320"/>
            <a:ext cx="2560320" cy="1828800"/>
          </a:xfrm>
          <a:prstGeom prst="rect">
            <a:avLst/>
          </a:prstGeom>
          <a:solidFill>
            <a:srgbClr val="FFFFFF"/>
          </a:solidFill>
          <a:ln cap="flat" cmpd="sng" w="9525">
            <a:solidFill>
              <a:srgbClr val="D9D9D6"/>
            </a:solidFill>
            <a:prstDash val="solid"/>
            <a:round/>
            <a:headEnd len="sm" w="sm" type="none"/>
            <a:tailEnd len="sm" w="sm" type="none"/>
          </a:ln>
          <a:effectLst>
            <a:outerShdw blurRad="508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txBox="1"/>
          <p:nvPr/>
        </p:nvSpPr>
        <p:spPr>
          <a:xfrm>
            <a:off x="685800" y="1600200"/>
            <a:ext cx="21488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322A"/>
              </a:buClr>
              <a:buSzPts val="4000"/>
              <a:buFont typeface="Bookman Old Style"/>
              <a:buNone/>
            </a:pPr>
            <a:r>
              <a:rPr b="1" i="0" lang="en-US" sz="4000" u="none" cap="none" strike="noStrike">
                <a:solidFill>
                  <a:srgbClr val="A8322A"/>
                </a:solidFill>
                <a:latin typeface="Bookman Old Style"/>
                <a:ea typeface="Bookman Old Style"/>
                <a:cs typeface="Bookman Old Style"/>
                <a:sym typeface="Bookman Old Style"/>
              </a:rPr>
              <a:t>13%</a:t>
            </a:r>
            <a:endParaRPr b="0" i="0" sz="4000" u="none" cap="none" strike="noStrike">
              <a:solidFill>
                <a:schemeClr val="dk1"/>
              </a:solidFill>
              <a:latin typeface="Calibri"/>
              <a:ea typeface="Calibri"/>
              <a:cs typeface="Calibri"/>
              <a:sym typeface="Calibri"/>
            </a:endParaRPr>
          </a:p>
        </p:txBody>
      </p:sp>
      <p:sp>
        <p:nvSpPr>
          <p:cNvPr id="44" name="Google Shape;44;p2"/>
          <p:cNvSpPr txBox="1"/>
          <p:nvPr/>
        </p:nvSpPr>
        <p:spPr>
          <a:xfrm>
            <a:off x="685800" y="2350008"/>
            <a:ext cx="214884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B1F"/>
              </a:buClr>
              <a:buSzPts val="1400"/>
              <a:buFont typeface="Calibri"/>
              <a:buNone/>
            </a:pPr>
            <a:r>
              <a:rPr b="0" i="0" lang="en-US" sz="1400" u="none" cap="none" strike="noStrike">
                <a:solidFill>
                  <a:srgbClr val="1B1B1F"/>
                </a:solidFill>
                <a:latin typeface="Calibri"/>
                <a:ea typeface="Calibri"/>
                <a:cs typeface="Calibri"/>
                <a:sym typeface="Calibri"/>
              </a:rPr>
              <a:t>of customers sit in two high-risk groups (1,082 of 8,500)</a:t>
            </a:r>
            <a:endParaRPr b="0" i="0" sz="1400" u="none" cap="none" strike="noStrike">
              <a:solidFill>
                <a:schemeClr val="dk1"/>
              </a:solidFill>
              <a:latin typeface="Calibri"/>
              <a:ea typeface="Calibri"/>
              <a:cs typeface="Calibri"/>
              <a:sym typeface="Calibri"/>
            </a:endParaRPr>
          </a:p>
        </p:txBody>
      </p:sp>
      <p:sp>
        <p:nvSpPr>
          <p:cNvPr id="45" name="Google Shape;45;p2"/>
          <p:cNvSpPr/>
          <p:nvPr/>
        </p:nvSpPr>
        <p:spPr>
          <a:xfrm>
            <a:off x="3291840" y="1417320"/>
            <a:ext cx="2560320" cy="1828800"/>
          </a:xfrm>
          <a:prstGeom prst="rect">
            <a:avLst/>
          </a:prstGeom>
          <a:solidFill>
            <a:srgbClr val="FFFFFF"/>
          </a:solidFill>
          <a:ln cap="flat" cmpd="sng" w="9525">
            <a:solidFill>
              <a:srgbClr val="D9D9D6"/>
            </a:solidFill>
            <a:prstDash val="solid"/>
            <a:round/>
            <a:headEnd len="sm" w="sm" type="none"/>
            <a:tailEnd len="sm" w="sm" type="none"/>
          </a:ln>
          <a:effectLst>
            <a:outerShdw blurRad="508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txBox="1"/>
          <p:nvPr/>
        </p:nvSpPr>
        <p:spPr>
          <a:xfrm>
            <a:off x="3520440" y="1600200"/>
            <a:ext cx="21488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322A"/>
              </a:buClr>
              <a:buSzPts val="4000"/>
              <a:buFont typeface="Bookman Old Style"/>
              <a:buNone/>
            </a:pPr>
            <a:r>
              <a:rPr b="1" i="0" lang="en-US" sz="4000" u="none" cap="none" strike="noStrike">
                <a:solidFill>
                  <a:srgbClr val="A8322A"/>
                </a:solidFill>
                <a:latin typeface="Bookman Old Style"/>
                <a:ea typeface="Bookman Old Style"/>
                <a:cs typeface="Bookman Old Style"/>
                <a:sym typeface="Bookman Old Style"/>
              </a:rPr>
              <a:t>72%</a:t>
            </a:r>
            <a:endParaRPr b="0" i="0" sz="4000" u="none" cap="none" strike="noStrike">
              <a:solidFill>
                <a:schemeClr val="dk1"/>
              </a:solidFill>
              <a:latin typeface="Calibri"/>
              <a:ea typeface="Calibri"/>
              <a:cs typeface="Calibri"/>
              <a:sym typeface="Calibri"/>
            </a:endParaRPr>
          </a:p>
        </p:txBody>
      </p:sp>
      <p:sp>
        <p:nvSpPr>
          <p:cNvPr id="47" name="Google Shape;47;p2"/>
          <p:cNvSpPr txBox="1"/>
          <p:nvPr/>
        </p:nvSpPr>
        <p:spPr>
          <a:xfrm>
            <a:off x="3520440" y="2350008"/>
            <a:ext cx="214884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B1F"/>
              </a:buClr>
              <a:buSzPts val="1400"/>
              <a:buFont typeface="Calibri"/>
              <a:buNone/>
            </a:pPr>
            <a:r>
              <a:rPr b="0" i="0" lang="en-US" sz="1400" u="none" cap="none" strike="noStrike">
                <a:solidFill>
                  <a:srgbClr val="1B1B1F"/>
                </a:solidFill>
                <a:latin typeface="Calibri"/>
                <a:ea typeface="Calibri"/>
                <a:cs typeface="Calibri"/>
                <a:sym typeface="Calibri"/>
              </a:rPr>
              <a:t>of everyone who left came from those two groups (592 of 825)</a:t>
            </a:r>
            <a:endParaRPr b="0" i="0" sz="1400" u="none" cap="none" strike="noStrike">
              <a:solidFill>
                <a:schemeClr val="dk1"/>
              </a:solidFill>
              <a:latin typeface="Calibri"/>
              <a:ea typeface="Calibri"/>
              <a:cs typeface="Calibri"/>
              <a:sym typeface="Calibri"/>
            </a:endParaRPr>
          </a:p>
        </p:txBody>
      </p:sp>
      <p:sp>
        <p:nvSpPr>
          <p:cNvPr id="48" name="Google Shape;48;p2"/>
          <p:cNvSpPr/>
          <p:nvPr/>
        </p:nvSpPr>
        <p:spPr>
          <a:xfrm>
            <a:off x="6126480" y="1417320"/>
            <a:ext cx="2560320" cy="1828800"/>
          </a:xfrm>
          <a:prstGeom prst="rect">
            <a:avLst/>
          </a:prstGeom>
          <a:solidFill>
            <a:srgbClr val="FFFFFF"/>
          </a:solidFill>
          <a:ln cap="flat" cmpd="sng" w="9525">
            <a:solidFill>
              <a:srgbClr val="D9D9D6"/>
            </a:solidFill>
            <a:prstDash val="solid"/>
            <a:round/>
            <a:headEnd len="sm" w="sm" type="none"/>
            <a:tailEnd len="sm" w="sm" type="none"/>
          </a:ln>
          <a:effectLst>
            <a:outerShdw blurRad="508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txBox="1"/>
          <p:nvPr/>
        </p:nvSpPr>
        <p:spPr>
          <a:xfrm>
            <a:off x="6355080" y="1600200"/>
            <a:ext cx="21488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D3A"/>
              </a:buClr>
              <a:buSzPts val="4000"/>
              <a:buFont typeface="Bookman Old Style"/>
              <a:buNone/>
            </a:pPr>
            <a:r>
              <a:rPr b="1" i="0" lang="en-US" sz="4000" u="none" cap="none" strike="noStrike">
                <a:solidFill>
                  <a:srgbClr val="0B0D3A"/>
                </a:solidFill>
                <a:latin typeface="Bookman Old Style"/>
                <a:ea typeface="Bookman Old Style"/>
                <a:cs typeface="Bookman Old Style"/>
                <a:sym typeface="Bookman Old Style"/>
              </a:rPr>
              <a:t>3.1%</a:t>
            </a:r>
            <a:endParaRPr b="0" i="0" sz="4000" u="none" cap="none" strike="noStrike">
              <a:solidFill>
                <a:schemeClr val="dk1"/>
              </a:solidFill>
              <a:latin typeface="Calibri"/>
              <a:ea typeface="Calibri"/>
              <a:cs typeface="Calibri"/>
              <a:sym typeface="Calibri"/>
            </a:endParaRPr>
          </a:p>
        </p:txBody>
      </p:sp>
      <p:sp>
        <p:nvSpPr>
          <p:cNvPr id="50" name="Google Shape;50;p2"/>
          <p:cNvSpPr txBox="1"/>
          <p:nvPr/>
        </p:nvSpPr>
        <p:spPr>
          <a:xfrm>
            <a:off x="6355080" y="2350008"/>
            <a:ext cx="214884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B1F"/>
              </a:buClr>
              <a:buSzPts val="1400"/>
              <a:buFont typeface="Calibri"/>
              <a:buNone/>
            </a:pPr>
            <a:r>
              <a:rPr b="0" i="0" lang="en-US" sz="1400" u="none" cap="none" strike="noStrike">
                <a:solidFill>
                  <a:srgbClr val="1B1B1F"/>
                </a:solidFill>
                <a:latin typeface="Calibri"/>
                <a:ea typeface="Calibri"/>
                <a:cs typeface="Calibri"/>
                <a:sym typeface="Calibri"/>
              </a:rPr>
              <a:t>of everyone else left, about a third of the 9.7% company average</a:t>
            </a:r>
            <a:endParaRPr b="0" i="0" sz="1400" u="none" cap="none" strike="noStrike">
              <a:solidFill>
                <a:schemeClr val="dk1"/>
              </a:solidFill>
              <a:latin typeface="Calibri"/>
              <a:ea typeface="Calibri"/>
              <a:cs typeface="Calibri"/>
              <a:sym typeface="Calibri"/>
            </a:endParaRPr>
          </a:p>
        </p:txBody>
      </p:sp>
      <p:sp>
        <p:nvSpPr>
          <p:cNvPr id="51" name="Google Shape;51;p2"/>
          <p:cNvSpPr txBox="1"/>
          <p:nvPr/>
        </p:nvSpPr>
        <p:spPr>
          <a:xfrm>
            <a:off x="457200" y="352044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322A"/>
              </a:buClr>
              <a:buSzPts val="1600"/>
              <a:buFont typeface="Calibri"/>
              <a:buNone/>
            </a:pPr>
            <a:r>
              <a:rPr b="1" i="0" lang="en-US" sz="1600" u="none" cap="none" strike="noStrike">
                <a:solidFill>
                  <a:srgbClr val="A8322A"/>
                </a:solidFill>
                <a:latin typeface="Calibri"/>
                <a:ea typeface="Calibri"/>
                <a:cs typeface="Calibri"/>
                <a:sym typeface="Calibri"/>
              </a:rPr>
              <a:t>The fix: </a:t>
            </a:r>
            <a:r>
              <a:rPr b="0" i="0" lang="en-US" sz="1600" u="none" cap="none" strike="noStrike">
                <a:solidFill>
                  <a:srgbClr val="1B1B1F"/>
                </a:solidFill>
                <a:latin typeface="Calibri"/>
                <a:ea typeface="Calibri"/>
                <a:cs typeface="Calibri"/>
                <a:sym typeface="Calibri"/>
              </a:rPr>
              <a:t>solve billing problems on the second ticket. That group alone is 47% of everyone who left.</a:t>
            </a:r>
            <a:endParaRPr b="0" i="0" sz="1600" u="none" cap="none" strike="noStrike">
              <a:solidFill>
                <a:schemeClr val="dk1"/>
              </a:solidFill>
              <a:latin typeface="Calibri"/>
              <a:ea typeface="Calibri"/>
              <a:cs typeface="Calibri"/>
              <a:sym typeface="Calibri"/>
            </a:endParaRPr>
          </a:p>
        </p:txBody>
      </p:sp>
      <p:sp>
        <p:nvSpPr>
          <p:cNvPr id="52" name="Google Shape;52;p2"/>
          <p:cNvSpPr txBox="1"/>
          <p:nvPr>
            <p:ph idx="4294967295" type="sldNum"/>
          </p:nvPr>
        </p:nvSpPr>
        <p:spPr>
          <a:xfrm>
            <a:off x="8229600" y="4754880"/>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6B6B6B"/>
                </a:solidFill>
                <a:latin typeface="Courier New"/>
                <a:ea typeface="Courier New"/>
                <a:cs typeface="Courier New"/>
                <a:sym typeface="Courier New"/>
              </a:rPr>
              <a:t>‹#›</a:t>
            </a:fld>
            <a:endParaRPr b="0" i="0" sz="900" u="none" cap="none" strike="noStrike">
              <a:solidFill>
                <a:srgbClr val="6B6B6B"/>
              </a:solidFill>
              <a:latin typeface="Courier New"/>
              <a:ea typeface="Courier New"/>
              <a:cs typeface="Courier New"/>
              <a:sym typeface="Courier New"/>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3"/>
          <p:cNvSpPr/>
          <p:nvPr/>
        </p:nvSpPr>
        <p:spPr>
          <a:xfrm>
            <a:off x="457200" y="201168"/>
            <a:ext cx="1737360" cy="256032"/>
          </a:xfrm>
          <a:prstGeom prst="roundRect">
            <a:avLst>
              <a:gd fmla="val 17857" name="adj"/>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txBox="1"/>
          <p:nvPr/>
        </p:nvSpPr>
        <p:spPr>
          <a:xfrm>
            <a:off x="457200" y="201168"/>
            <a:ext cx="17373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000"/>
              <a:buFont typeface="Courier New"/>
              <a:buNone/>
            </a:pPr>
            <a:r>
              <a:rPr b="1" i="0" lang="en-US" sz="1000" u="none" cap="none" strike="noStrike">
                <a:solidFill>
                  <a:schemeClr val="lt1"/>
                </a:solidFill>
                <a:latin typeface="Courier New"/>
                <a:ea typeface="Courier New"/>
                <a:cs typeface="Courier New"/>
                <a:sym typeface="Courier New"/>
              </a:rPr>
              <a:t>THE INVESTIGATION</a:t>
            </a:r>
            <a:endParaRPr b="0" i="0" sz="1000" u="none" cap="none" strike="noStrike">
              <a:solidFill>
                <a:schemeClr val="dk1"/>
              </a:solidFill>
              <a:latin typeface="Calibri"/>
              <a:ea typeface="Calibri"/>
              <a:cs typeface="Calibri"/>
              <a:sym typeface="Calibri"/>
            </a:endParaRPr>
          </a:p>
        </p:txBody>
      </p:sp>
      <p:sp>
        <p:nvSpPr>
          <p:cNvPr id="60" name="Google Shape;60;p3"/>
          <p:cNvSpPr txBox="1"/>
          <p:nvPr>
            <p:ph type="title"/>
          </p:nvPr>
        </p:nvSpPr>
        <p:spPr>
          <a:xfrm>
            <a:off x="457200" y="502920"/>
            <a:ext cx="8229600" cy="6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2800"/>
              <a:buFont typeface="Bookman Old Style"/>
              <a:buNone/>
            </a:pPr>
            <a:r>
              <a:rPr b="1" lang="en-US" sz="2800">
                <a:solidFill>
                  <a:schemeClr val="dk2"/>
                </a:solidFill>
                <a:latin typeface="Bookman Old Style"/>
                <a:ea typeface="Bookman Old Style"/>
                <a:cs typeface="Bookman Old Style"/>
                <a:sym typeface="Bookman Old Style"/>
              </a:rPr>
              <a:t>We questioned 9 suspects, not just one</a:t>
            </a:r>
            <a:endParaRPr sz="2800"/>
          </a:p>
        </p:txBody>
      </p:sp>
      <p:sp>
        <p:nvSpPr>
          <p:cNvPr id="61" name="Google Shape;61;p3"/>
          <p:cNvSpPr/>
          <p:nvPr/>
        </p:nvSpPr>
        <p:spPr>
          <a:xfrm>
            <a:off x="457200" y="1417320"/>
            <a:ext cx="2560320" cy="2788920"/>
          </a:xfrm>
          <a:prstGeom prst="rect">
            <a:avLst/>
          </a:prstGeom>
          <a:solidFill>
            <a:srgbClr val="FFFFFF"/>
          </a:solidFill>
          <a:ln cap="flat" cmpd="sng" w="9525">
            <a:solidFill>
              <a:srgbClr val="D9D9D6"/>
            </a:solidFill>
            <a:prstDash val="solid"/>
            <a:round/>
            <a:headEnd len="sm" w="sm" type="none"/>
            <a:tailEnd len="sm" w="sm" type="none"/>
          </a:ln>
          <a:effectLst>
            <a:outerShdw blurRad="508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a:off x="685800" y="1645920"/>
            <a:ext cx="548640" cy="548640"/>
          </a:xfrm>
          <a:prstGeom prst="ellipse">
            <a:avLst/>
          </a:prstGeom>
          <a:solidFill>
            <a:schemeClr val="dk2"/>
          </a:solidFill>
          <a:ln cap="flat" cmpd="sng" w="127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3" name="Google Shape;63;p3"/>
          <p:cNvPicPr preferRelativeResize="0"/>
          <p:nvPr/>
        </p:nvPicPr>
        <p:blipFill rotWithShape="1">
          <a:blip r:embed="rId3">
            <a:alphaModFix/>
          </a:blip>
          <a:srcRect b="0" l="0" r="0" t="0"/>
          <a:stretch/>
        </p:blipFill>
        <p:spPr>
          <a:xfrm>
            <a:off x="813816" y="1773936"/>
            <a:ext cx="292608" cy="292608"/>
          </a:xfrm>
          <a:prstGeom prst="rect">
            <a:avLst/>
          </a:prstGeom>
          <a:noFill/>
          <a:ln>
            <a:noFill/>
          </a:ln>
        </p:spPr>
      </p:pic>
      <p:sp>
        <p:nvSpPr>
          <p:cNvPr id="64" name="Google Shape;64;p3"/>
          <p:cNvSpPr txBox="1"/>
          <p:nvPr/>
        </p:nvSpPr>
        <p:spPr>
          <a:xfrm>
            <a:off x="1371600" y="1783080"/>
            <a:ext cx="1371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322A"/>
              </a:buClr>
              <a:buSzPts val="1100"/>
              <a:buFont typeface="Courier New"/>
              <a:buNone/>
            </a:pPr>
            <a:r>
              <a:rPr b="1" i="0" lang="en-US" sz="1100" u="none" cap="none" strike="noStrike">
                <a:solidFill>
                  <a:srgbClr val="A8322A"/>
                </a:solidFill>
                <a:latin typeface="Courier New"/>
                <a:ea typeface="Courier New"/>
                <a:cs typeface="Courier New"/>
                <a:sym typeface="Courier New"/>
              </a:rPr>
              <a:t>STEP 01</a:t>
            </a:r>
            <a:endParaRPr b="0" i="0" sz="1100" u="none" cap="none" strike="noStrike">
              <a:solidFill>
                <a:schemeClr val="dk1"/>
              </a:solidFill>
              <a:latin typeface="Calibri"/>
              <a:ea typeface="Calibri"/>
              <a:cs typeface="Calibri"/>
              <a:sym typeface="Calibri"/>
            </a:endParaRPr>
          </a:p>
        </p:txBody>
      </p:sp>
      <p:sp>
        <p:nvSpPr>
          <p:cNvPr id="65" name="Google Shape;65;p3"/>
          <p:cNvSpPr txBox="1"/>
          <p:nvPr/>
        </p:nvSpPr>
        <p:spPr>
          <a:xfrm>
            <a:off x="685800" y="2377440"/>
            <a:ext cx="21488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B1F"/>
              </a:buClr>
              <a:buSzPts val="1700"/>
              <a:buFont typeface="Calibri"/>
              <a:buNone/>
            </a:pPr>
            <a:r>
              <a:rPr b="1" i="0" lang="en-US" sz="1700" u="none" cap="none" strike="noStrike">
                <a:solidFill>
                  <a:srgbClr val="1B1B1F"/>
                </a:solidFill>
                <a:latin typeface="Calibri"/>
                <a:ea typeface="Calibri"/>
                <a:cs typeface="Calibri"/>
                <a:sym typeface="Calibri"/>
              </a:rPr>
              <a:t>Checked the evidence</a:t>
            </a:r>
            <a:endParaRPr b="0" i="0" sz="1700" u="none" cap="none" strike="noStrike">
              <a:solidFill>
                <a:schemeClr val="dk1"/>
              </a:solidFill>
              <a:latin typeface="Calibri"/>
              <a:ea typeface="Calibri"/>
              <a:cs typeface="Calibri"/>
              <a:sym typeface="Calibri"/>
            </a:endParaRPr>
          </a:p>
        </p:txBody>
      </p:sp>
      <p:sp>
        <p:nvSpPr>
          <p:cNvPr id="66" name="Google Shape;66;p3"/>
          <p:cNvSpPr txBox="1"/>
          <p:nvPr/>
        </p:nvSpPr>
        <p:spPr>
          <a:xfrm>
            <a:off x="685800" y="2788920"/>
            <a:ext cx="2148840" cy="1417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A3A3A"/>
              </a:buClr>
              <a:buSzPts val="1400"/>
              <a:buFont typeface="Calibri"/>
              <a:buNone/>
            </a:pPr>
            <a:r>
              <a:rPr b="0" i="0" lang="en-US" sz="1400" u="none" cap="none" strike="noStrike">
                <a:solidFill>
                  <a:srgbClr val="3A3A3A"/>
                </a:solidFill>
                <a:latin typeface="Calibri"/>
                <a:ea typeface="Calibri"/>
                <a:cs typeface="Calibri"/>
                <a:sym typeface="Calibri"/>
              </a:rPr>
              <a:t>8,500 customers, 12 fields. No missing values, duplicates or price errors, so nothing was removed.</a:t>
            </a:r>
            <a:endParaRPr b="0" i="0" sz="1400" u="none" cap="none" strike="noStrike">
              <a:solidFill>
                <a:schemeClr val="dk1"/>
              </a:solidFill>
              <a:latin typeface="Calibri"/>
              <a:ea typeface="Calibri"/>
              <a:cs typeface="Calibri"/>
              <a:sym typeface="Calibri"/>
            </a:endParaRPr>
          </a:p>
        </p:txBody>
      </p:sp>
      <p:sp>
        <p:nvSpPr>
          <p:cNvPr id="67" name="Google Shape;67;p3"/>
          <p:cNvSpPr/>
          <p:nvPr/>
        </p:nvSpPr>
        <p:spPr>
          <a:xfrm>
            <a:off x="3291840" y="1417320"/>
            <a:ext cx="2560320" cy="2788920"/>
          </a:xfrm>
          <a:prstGeom prst="rect">
            <a:avLst/>
          </a:prstGeom>
          <a:solidFill>
            <a:srgbClr val="FFFFFF"/>
          </a:solidFill>
          <a:ln cap="flat" cmpd="sng" w="9525">
            <a:solidFill>
              <a:srgbClr val="D9D9D6"/>
            </a:solidFill>
            <a:prstDash val="solid"/>
            <a:round/>
            <a:headEnd len="sm" w="sm" type="none"/>
            <a:tailEnd len="sm" w="sm" type="none"/>
          </a:ln>
          <a:effectLst>
            <a:outerShdw blurRad="508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
          <p:cNvSpPr/>
          <p:nvPr/>
        </p:nvSpPr>
        <p:spPr>
          <a:xfrm>
            <a:off x="3520440" y="1645920"/>
            <a:ext cx="548640" cy="548640"/>
          </a:xfrm>
          <a:prstGeom prst="ellipse">
            <a:avLst/>
          </a:prstGeom>
          <a:solidFill>
            <a:schemeClr val="dk2"/>
          </a:solidFill>
          <a:ln cap="flat" cmpd="sng" w="127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9" name="Google Shape;69;p3"/>
          <p:cNvPicPr preferRelativeResize="0"/>
          <p:nvPr/>
        </p:nvPicPr>
        <p:blipFill rotWithShape="1">
          <a:blip r:embed="rId4">
            <a:alphaModFix/>
          </a:blip>
          <a:srcRect b="0" l="0" r="0" t="0"/>
          <a:stretch/>
        </p:blipFill>
        <p:spPr>
          <a:xfrm>
            <a:off x="3648456" y="1773936"/>
            <a:ext cx="292608" cy="292608"/>
          </a:xfrm>
          <a:prstGeom prst="rect">
            <a:avLst/>
          </a:prstGeom>
          <a:noFill/>
          <a:ln>
            <a:noFill/>
          </a:ln>
        </p:spPr>
      </p:pic>
      <p:sp>
        <p:nvSpPr>
          <p:cNvPr id="70" name="Google Shape;70;p3"/>
          <p:cNvSpPr txBox="1"/>
          <p:nvPr/>
        </p:nvSpPr>
        <p:spPr>
          <a:xfrm>
            <a:off x="4206240" y="1783080"/>
            <a:ext cx="1371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322A"/>
              </a:buClr>
              <a:buSzPts val="1100"/>
              <a:buFont typeface="Courier New"/>
              <a:buNone/>
            </a:pPr>
            <a:r>
              <a:rPr b="1" i="0" lang="en-US" sz="1100" u="none" cap="none" strike="noStrike">
                <a:solidFill>
                  <a:srgbClr val="A8322A"/>
                </a:solidFill>
                <a:latin typeface="Courier New"/>
                <a:ea typeface="Courier New"/>
                <a:cs typeface="Courier New"/>
                <a:sym typeface="Courier New"/>
              </a:rPr>
              <a:t>STEP 02</a:t>
            </a:r>
            <a:endParaRPr b="0" i="0" sz="1100" u="none" cap="none" strike="noStrike">
              <a:solidFill>
                <a:schemeClr val="dk1"/>
              </a:solidFill>
              <a:latin typeface="Calibri"/>
              <a:ea typeface="Calibri"/>
              <a:cs typeface="Calibri"/>
              <a:sym typeface="Calibri"/>
            </a:endParaRPr>
          </a:p>
        </p:txBody>
      </p:sp>
      <p:sp>
        <p:nvSpPr>
          <p:cNvPr id="71" name="Google Shape;71;p3"/>
          <p:cNvSpPr txBox="1"/>
          <p:nvPr/>
        </p:nvSpPr>
        <p:spPr>
          <a:xfrm>
            <a:off x="3520440" y="2377440"/>
            <a:ext cx="21488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B1F"/>
              </a:buClr>
              <a:buSzPts val="1700"/>
              <a:buFont typeface="Calibri"/>
              <a:buNone/>
            </a:pPr>
            <a:r>
              <a:rPr b="1" i="0" lang="en-US" sz="1700" u="none" cap="none" strike="noStrike">
                <a:solidFill>
                  <a:srgbClr val="1B1B1F"/>
                </a:solidFill>
                <a:latin typeface="Calibri"/>
                <a:ea typeface="Calibri"/>
                <a:cs typeface="Calibri"/>
                <a:sym typeface="Calibri"/>
              </a:rPr>
              <a:t>Tested 9 suspects</a:t>
            </a:r>
            <a:endParaRPr b="0" i="0" sz="1700" u="none" cap="none" strike="noStrike">
              <a:solidFill>
                <a:schemeClr val="dk1"/>
              </a:solidFill>
              <a:latin typeface="Calibri"/>
              <a:ea typeface="Calibri"/>
              <a:cs typeface="Calibri"/>
              <a:sym typeface="Calibri"/>
            </a:endParaRPr>
          </a:p>
        </p:txBody>
      </p:sp>
      <p:sp>
        <p:nvSpPr>
          <p:cNvPr id="72" name="Google Shape;72;p3"/>
          <p:cNvSpPr txBox="1"/>
          <p:nvPr/>
        </p:nvSpPr>
        <p:spPr>
          <a:xfrm>
            <a:off x="3520440" y="2788920"/>
            <a:ext cx="2148840" cy="1417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A3A3A"/>
              </a:buClr>
              <a:buSzPts val="1400"/>
              <a:buFont typeface="Calibri"/>
              <a:buNone/>
            </a:pPr>
            <a:r>
              <a:rPr b="0" i="0" lang="en-US" sz="1400" u="none" cap="none" strike="noStrike">
                <a:solidFill>
                  <a:srgbClr val="3A3A3A"/>
                </a:solidFill>
                <a:latin typeface="Calibri"/>
                <a:ea typeface="Calibri"/>
                <a:cs typeface="Calibri"/>
                <a:sym typeface="Calibri"/>
              </a:rPr>
              <a:t>For each factor, we compared how many customers left: tickets, ticket topic, signup channel, listening mix, plan, payment, age, tenure, hours.</a:t>
            </a:r>
            <a:endParaRPr b="0" i="0" sz="1400" u="none" cap="none" strike="noStrike">
              <a:solidFill>
                <a:schemeClr val="dk1"/>
              </a:solidFill>
              <a:latin typeface="Calibri"/>
              <a:ea typeface="Calibri"/>
              <a:cs typeface="Calibri"/>
              <a:sym typeface="Calibri"/>
            </a:endParaRPr>
          </a:p>
        </p:txBody>
      </p:sp>
      <p:sp>
        <p:nvSpPr>
          <p:cNvPr id="73" name="Google Shape;73;p3"/>
          <p:cNvSpPr/>
          <p:nvPr/>
        </p:nvSpPr>
        <p:spPr>
          <a:xfrm>
            <a:off x="6126480" y="1417320"/>
            <a:ext cx="2560320" cy="2788920"/>
          </a:xfrm>
          <a:prstGeom prst="rect">
            <a:avLst/>
          </a:prstGeom>
          <a:solidFill>
            <a:srgbClr val="FFFFFF"/>
          </a:solidFill>
          <a:ln cap="flat" cmpd="sng" w="9525">
            <a:solidFill>
              <a:srgbClr val="D9D9D6"/>
            </a:solidFill>
            <a:prstDash val="solid"/>
            <a:round/>
            <a:headEnd len="sm" w="sm" type="none"/>
            <a:tailEnd len="sm" w="sm" type="none"/>
          </a:ln>
          <a:effectLst>
            <a:outerShdw blurRad="508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6355080" y="1645920"/>
            <a:ext cx="548640" cy="548640"/>
          </a:xfrm>
          <a:prstGeom prst="ellipse">
            <a:avLst/>
          </a:prstGeom>
          <a:solidFill>
            <a:schemeClr val="dk2"/>
          </a:solidFill>
          <a:ln cap="flat" cmpd="sng" w="127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5" name="Google Shape;75;p3"/>
          <p:cNvPicPr preferRelativeResize="0"/>
          <p:nvPr/>
        </p:nvPicPr>
        <p:blipFill rotWithShape="1">
          <a:blip r:embed="rId5">
            <a:alphaModFix/>
          </a:blip>
          <a:srcRect b="0" l="0" r="0" t="0"/>
          <a:stretch/>
        </p:blipFill>
        <p:spPr>
          <a:xfrm>
            <a:off x="6483096" y="1773936"/>
            <a:ext cx="292608" cy="292608"/>
          </a:xfrm>
          <a:prstGeom prst="rect">
            <a:avLst/>
          </a:prstGeom>
          <a:noFill/>
          <a:ln>
            <a:noFill/>
          </a:ln>
        </p:spPr>
      </p:pic>
      <p:sp>
        <p:nvSpPr>
          <p:cNvPr id="76" name="Google Shape;76;p3"/>
          <p:cNvSpPr txBox="1"/>
          <p:nvPr/>
        </p:nvSpPr>
        <p:spPr>
          <a:xfrm>
            <a:off x="7040880" y="1783080"/>
            <a:ext cx="1371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322A"/>
              </a:buClr>
              <a:buSzPts val="1100"/>
              <a:buFont typeface="Courier New"/>
              <a:buNone/>
            </a:pPr>
            <a:r>
              <a:rPr b="1" i="0" lang="en-US" sz="1100" u="none" cap="none" strike="noStrike">
                <a:solidFill>
                  <a:srgbClr val="A8322A"/>
                </a:solidFill>
                <a:latin typeface="Courier New"/>
                <a:ea typeface="Courier New"/>
                <a:cs typeface="Courier New"/>
                <a:sym typeface="Courier New"/>
              </a:rPr>
              <a:t>STEP 03</a:t>
            </a:r>
            <a:endParaRPr b="0" i="0" sz="1100" u="none" cap="none" strike="noStrike">
              <a:solidFill>
                <a:schemeClr val="dk1"/>
              </a:solidFill>
              <a:latin typeface="Calibri"/>
              <a:ea typeface="Calibri"/>
              <a:cs typeface="Calibri"/>
              <a:sym typeface="Calibri"/>
            </a:endParaRPr>
          </a:p>
        </p:txBody>
      </p:sp>
      <p:sp>
        <p:nvSpPr>
          <p:cNvPr id="77" name="Google Shape;77;p3"/>
          <p:cNvSpPr txBox="1"/>
          <p:nvPr/>
        </p:nvSpPr>
        <p:spPr>
          <a:xfrm>
            <a:off x="6355080" y="2377440"/>
            <a:ext cx="21488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B1F"/>
              </a:buClr>
              <a:buSzPts val="1700"/>
              <a:buFont typeface="Calibri"/>
              <a:buNone/>
            </a:pPr>
            <a:r>
              <a:rPr b="1" i="0" lang="en-US" sz="1700" u="none" cap="none" strike="noStrike">
                <a:solidFill>
                  <a:srgbClr val="1B1B1F"/>
                </a:solidFill>
                <a:latin typeface="Calibri"/>
                <a:ea typeface="Calibri"/>
                <a:cs typeface="Calibri"/>
                <a:sym typeface="Calibri"/>
              </a:rPr>
              <a:t>Found the accomplices</a:t>
            </a:r>
            <a:endParaRPr b="0" i="0" sz="1700" u="none" cap="none" strike="noStrike">
              <a:solidFill>
                <a:schemeClr val="dk1"/>
              </a:solidFill>
              <a:latin typeface="Calibri"/>
              <a:ea typeface="Calibri"/>
              <a:cs typeface="Calibri"/>
              <a:sym typeface="Calibri"/>
            </a:endParaRPr>
          </a:p>
        </p:txBody>
      </p:sp>
      <p:sp>
        <p:nvSpPr>
          <p:cNvPr id="78" name="Google Shape;78;p3"/>
          <p:cNvSpPr txBox="1"/>
          <p:nvPr/>
        </p:nvSpPr>
        <p:spPr>
          <a:xfrm>
            <a:off x="6355080" y="2788920"/>
            <a:ext cx="2148840" cy="1417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A3A3A"/>
              </a:buClr>
              <a:buSzPts val="1400"/>
              <a:buFont typeface="Calibri"/>
              <a:buNone/>
            </a:pPr>
            <a:r>
              <a:rPr b="0" i="0" lang="en-US" sz="1400" u="none" cap="none" strike="noStrike">
                <a:solidFill>
                  <a:srgbClr val="3A3A3A"/>
                </a:solidFill>
                <a:latin typeface="Calibri"/>
                <a:ea typeface="Calibri"/>
                <a:cs typeface="Calibri"/>
                <a:sym typeface="Calibri"/>
              </a:rPr>
              <a:t>Paired factors to find small, high-risk groups, ranked them by size and impact, then had a simple model double-check the ranking.</a:t>
            </a:r>
            <a:endParaRPr b="0" i="0" sz="1400" u="none" cap="none" strike="noStrike">
              <a:solidFill>
                <a:schemeClr val="dk1"/>
              </a:solidFill>
              <a:latin typeface="Calibri"/>
              <a:ea typeface="Calibri"/>
              <a:cs typeface="Calibri"/>
              <a:sym typeface="Calibri"/>
            </a:endParaRPr>
          </a:p>
        </p:txBody>
      </p:sp>
      <p:sp>
        <p:nvSpPr>
          <p:cNvPr id="79" name="Google Shape;79;p3"/>
          <p:cNvSpPr txBox="1"/>
          <p:nvPr>
            <p:ph idx="4294967295" type="sldNum"/>
          </p:nvPr>
        </p:nvSpPr>
        <p:spPr>
          <a:xfrm>
            <a:off x="8229600" y="4754880"/>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6B6B6B"/>
                </a:solidFill>
                <a:latin typeface="Courier New"/>
                <a:ea typeface="Courier New"/>
                <a:cs typeface="Courier New"/>
                <a:sym typeface="Courier New"/>
              </a:rPr>
              <a:t>‹#›</a:t>
            </a:fld>
            <a:endParaRPr b="0" i="0" sz="900" u="none" cap="none" strike="noStrike">
              <a:solidFill>
                <a:srgbClr val="6B6B6B"/>
              </a:solidFill>
              <a:latin typeface="Courier New"/>
              <a:ea typeface="Courier New"/>
              <a:cs typeface="Courier New"/>
              <a:sym typeface="Courier New"/>
            </a:endParaRPr>
          </a:p>
        </p:txBody>
      </p:sp>
      <p:sp>
        <p:nvSpPr>
          <p:cNvPr id="80" name="Google Shape;80;p3"/>
          <p:cNvSpPr txBox="1"/>
          <p:nvPr/>
        </p:nvSpPr>
        <p:spPr>
          <a:xfrm>
            <a:off x="457200" y="4297680"/>
            <a:ext cx="8229600" cy="38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A3A3A"/>
              </a:buClr>
              <a:buSzPts val="1050"/>
              <a:buFont typeface="Calibri"/>
              <a:buNone/>
            </a:pPr>
            <a:r>
              <a:rPr b="1" i="0" lang="en-US" sz="1050" u="none" cap="none" strike="noStrike">
                <a:solidFill>
                  <a:srgbClr val="3A3A3A"/>
                </a:solidFill>
                <a:latin typeface="Calibri"/>
                <a:ea typeface="Calibri"/>
                <a:cs typeface="Calibri"/>
                <a:sym typeface="Calibri"/>
              </a:rPr>
              <a:t>How to read our numbers:  </a:t>
            </a:r>
            <a:r>
              <a:rPr b="0" i="0" lang="en-US" sz="1050" u="none" cap="none" strike="noStrike">
                <a:solidFill>
                  <a:srgbClr val="3A3A3A"/>
                </a:solidFill>
                <a:latin typeface="Calibri"/>
                <a:ea typeface="Calibri"/>
                <a:cs typeface="Calibri"/>
                <a:sym typeface="Calibri"/>
              </a:rPr>
              <a:t>“X% left” = share of a group that cancelled in the last 90 days.  “X% of all churn” = that group’s slice of the 825 customers who left.</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4"/>
          <p:cNvSpPr/>
          <p:nvPr/>
        </p:nvSpPr>
        <p:spPr>
          <a:xfrm>
            <a:off x="457200" y="201168"/>
            <a:ext cx="1737360" cy="256032"/>
          </a:xfrm>
          <a:prstGeom prst="roundRect">
            <a:avLst>
              <a:gd fmla="val 17857" name="adj"/>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txBox="1"/>
          <p:nvPr/>
        </p:nvSpPr>
        <p:spPr>
          <a:xfrm>
            <a:off x="457200" y="201168"/>
            <a:ext cx="17373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000"/>
              <a:buFont typeface="Courier New"/>
              <a:buNone/>
            </a:pPr>
            <a:r>
              <a:rPr b="1" i="0" lang="en-US" sz="1000" u="none" cap="none" strike="noStrike">
                <a:solidFill>
                  <a:schemeClr val="lt1"/>
                </a:solidFill>
                <a:latin typeface="Courier New"/>
                <a:ea typeface="Courier New"/>
                <a:cs typeface="Courier New"/>
                <a:sym typeface="Courier New"/>
              </a:rPr>
              <a:t>SUSPECT #1</a:t>
            </a:r>
            <a:endParaRPr b="0" i="0" sz="1000" u="none" cap="none" strike="noStrike">
              <a:solidFill>
                <a:schemeClr val="dk1"/>
              </a:solidFill>
              <a:latin typeface="Calibri"/>
              <a:ea typeface="Calibri"/>
              <a:cs typeface="Calibri"/>
              <a:sym typeface="Calibri"/>
            </a:endParaRPr>
          </a:p>
        </p:txBody>
      </p:sp>
      <p:sp>
        <p:nvSpPr>
          <p:cNvPr id="88" name="Google Shape;88;p4"/>
          <p:cNvSpPr txBox="1"/>
          <p:nvPr>
            <p:ph type="title"/>
          </p:nvPr>
        </p:nvSpPr>
        <p:spPr>
          <a:xfrm>
            <a:off x="457200" y="502920"/>
            <a:ext cx="8229600" cy="6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2800"/>
              <a:buFont typeface="Bookman Old Style"/>
              <a:buNone/>
            </a:pPr>
            <a:r>
              <a:rPr b="1" lang="en-US" sz="2800">
                <a:solidFill>
                  <a:schemeClr val="dk2"/>
                </a:solidFill>
                <a:latin typeface="Bookman Old Style"/>
                <a:ea typeface="Bookman Old Style"/>
                <a:cs typeface="Bookman Old Style"/>
                <a:sym typeface="Bookman Old Style"/>
              </a:rPr>
              <a:t>A second billing ticket is the alarm bell</a:t>
            </a:r>
            <a:endParaRPr sz="2800"/>
          </a:p>
        </p:txBody>
      </p:sp>
      <p:sp>
        <p:nvSpPr>
          <p:cNvPr id="89" name="Google Shape;89;p4"/>
          <p:cNvSpPr/>
          <p:nvPr/>
        </p:nvSpPr>
        <p:spPr>
          <a:xfrm>
            <a:off x="548640" y="1097280"/>
            <a:ext cx="1234440" cy="384048"/>
          </a:xfrm>
          <a:prstGeom prst="roundRect">
            <a:avLst>
              <a:gd fmla="val 14286" name="adj"/>
            </a:avLst>
          </a:prstGeom>
          <a:solidFill>
            <a:schemeClr val="dk2"/>
          </a:solidFill>
          <a:ln cap="flat" cmpd="sng" w="127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4"/>
          <p:cNvSpPr txBox="1"/>
          <p:nvPr/>
        </p:nvSpPr>
        <p:spPr>
          <a:xfrm>
            <a:off x="548640" y="1097280"/>
            <a:ext cx="12344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000"/>
              <a:buFont typeface="Courier New"/>
              <a:buNone/>
            </a:pPr>
            <a:r>
              <a:rPr b="1" i="0" lang="en-US" sz="1000" u="none" cap="none" strike="noStrike">
                <a:solidFill>
                  <a:schemeClr val="lt1"/>
                </a:solidFill>
                <a:latin typeface="Courier New"/>
                <a:ea typeface="Courier New"/>
                <a:cs typeface="Courier New"/>
                <a:sym typeface="Courier New"/>
              </a:rPr>
              <a:t>EXHIBIT A</a:t>
            </a:r>
            <a:endParaRPr b="0" i="0" sz="1000" u="none" cap="none" strike="noStrike">
              <a:solidFill>
                <a:schemeClr val="dk1"/>
              </a:solidFill>
              <a:latin typeface="Calibri"/>
              <a:ea typeface="Calibri"/>
              <a:cs typeface="Calibri"/>
              <a:sym typeface="Calibri"/>
            </a:endParaRPr>
          </a:p>
        </p:txBody>
      </p:sp>
      <p:sp>
        <p:nvSpPr>
          <p:cNvPr id="91" name="Google Shape;91;p4"/>
          <p:cNvSpPr/>
          <p:nvPr/>
        </p:nvSpPr>
        <p:spPr>
          <a:xfrm>
            <a:off x="457200" y="1371600"/>
            <a:ext cx="5120640" cy="3200400"/>
          </a:xfrm>
          <a:prstGeom prst="rect">
            <a:avLst/>
          </a:prstGeom>
          <a:solidFill>
            <a:srgbClr val="FFFFFF"/>
          </a:solidFill>
          <a:ln cap="flat" cmpd="sng" w="9525">
            <a:solidFill>
              <a:srgbClr val="D9D9D6"/>
            </a:solidFill>
            <a:prstDash val="solid"/>
            <a:round/>
            <a:headEnd len="sm" w="sm" type="none"/>
            <a:tailEnd len="sm" w="sm" type="none"/>
          </a:ln>
          <a:effectLst>
            <a:outerShdw blurRad="508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92" name="Google Shape;92;p4"/>
          <p:cNvGraphicFramePr/>
          <p:nvPr/>
        </p:nvGraphicFramePr>
        <p:xfrm>
          <a:off x="594360" y="1463040"/>
          <a:ext cx="4846320" cy="3017520"/>
        </p:xfrm>
        <a:graphic>
          <a:graphicData uri="http://schemas.openxmlformats.org/drawingml/2006/chart">
            <c:chart r:id="rId3"/>
          </a:graphicData>
        </a:graphic>
      </p:graphicFrame>
      <p:sp>
        <p:nvSpPr>
          <p:cNvPr id="93" name="Google Shape;93;p4"/>
          <p:cNvSpPr/>
          <p:nvPr/>
        </p:nvSpPr>
        <p:spPr>
          <a:xfrm>
            <a:off x="5852160" y="1371600"/>
            <a:ext cx="2834640" cy="3200400"/>
          </a:xfrm>
          <a:prstGeom prst="rect">
            <a:avLst/>
          </a:prstGeom>
          <a:solidFill>
            <a:srgbClr val="FFFFFF"/>
          </a:solidFill>
          <a:ln cap="flat" cmpd="sng" w="9525">
            <a:solidFill>
              <a:srgbClr val="D9D9D6"/>
            </a:solidFill>
            <a:prstDash val="solid"/>
            <a:round/>
            <a:headEnd len="sm" w="sm" type="none"/>
            <a:tailEnd len="sm" w="sm" type="none"/>
          </a:ln>
          <a:effectLst>
            <a:outerShdw blurRad="508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4"/>
          <p:cNvSpPr/>
          <p:nvPr/>
        </p:nvSpPr>
        <p:spPr>
          <a:xfrm>
            <a:off x="7168896" y="1271016"/>
            <a:ext cx="201168" cy="201168"/>
          </a:xfrm>
          <a:prstGeom prst="ellipse">
            <a:avLst/>
          </a:prstGeom>
          <a:solidFill>
            <a:schemeClr val="accent1"/>
          </a:solidFill>
          <a:ln cap="flat" cmpd="sng" w="12700">
            <a:solidFill>
              <a:srgbClr val="7A231D"/>
            </a:solidFill>
            <a:prstDash val="solid"/>
            <a:round/>
            <a:headEnd len="sm" w="sm" type="none"/>
            <a:tailEnd len="sm" w="sm" type="none"/>
          </a:ln>
          <a:effectLst>
            <a:outerShdw blurRad="38100" rotWithShape="0" algn="bl" dir="5400000" dist="254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txBox="1"/>
          <p:nvPr/>
        </p:nvSpPr>
        <p:spPr>
          <a:xfrm>
            <a:off x="6035040" y="1536192"/>
            <a:ext cx="24688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322A"/>
              </a:buClr>
              <a:buSzPts val="1100"/>
              <a:buFont typeface="Courier New"/>
              <a:buNone/>
            </a:pPr>
            <a:r>
              <a:rPr b="1" i="0" lang="en-US" sz="1100" u="none" cap="none" strike="noStrike">
                <a:solidFill>
                  <a:srgbClr val="A8322A"/>
                </a:solidFill>
                <a:latin typeface="Courier New"/>
                <a:ea typeface="Courier New"/>
                <a:cs typeface="Courier New"/>
                <a:sym typeface="Courier New"/>
              </a:rPr>
              <a:t>SUSPECT PROFILE</a:t>
            </a:r>
            <a:endParaRPr b="0" i="0" sz="1100" u="none" cap="none" strike="noStrike">
              <a:solidFill>
                <a:schemeClr val="dk1"/>
              </a:solidFill>
              <a:latin typeface="Calibri"/>
              <a:ea typeface="Calibri"/>
              <a:cs typeface="Calibri"/>
              <a:sym typeface="Calibri"/>
            </a:endParaRPr>
          </a:p>
        </p:txBody>
      </p:sp>
      <p:sp>
        <p:nvSpPr>
          <p:cNvPr id="96" name="Google Shape;96;p4"/>
          <p:cNvSpPr txBox="1"/>
          <p:nvPr/>
        </p:nvSpPr>
        <p:spPr>
          <a:xfrm>
            <a:off x="6035040" y="1810512"/>
            <a:ext cx="25146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322A"/>
              </a:buClr>
              <a:buSzPts val="3200"/>
              <a:buFont typeface="Bookman Old Style"/>
              <a:buNone/>
            </a:pPr>
            <a:r>
              <a:rPr b="1" i="0" lang="en-US" sz="3200" u="none" cap="none" strike="noStrike">
                <a:solidFill>
                  <a:srgbClr val="A8322A"/>
                </a:solidFill>
                <a:latin typeface="Bookman Old Style"/>
                <a:ea typeface="Bookman Old Style"/>
                <a:cs typeface="Bookman Old Style"/>
                <a:sym typeface="Bookman Old Style"/>
              </a:rPr>
              <a:t>56.5%</a:t>
            </a:r>
            <a:r>
              <a:rPr b="1" i="0" lang="en-US" sz="1400" u="none" cap="none" strike="noStrike">
                <a:solidFill>
                  <a:srgbClr val="1B1B1F"/>
                </a:solidFill>
                <a:latin typeface="Calibri"/>
                <a:ea typeface="Calibri"/>
                <a:cs typeface="Calibri"/>
                <a:sym typeface="Calibri"/>
              </a:rPr>
              <a:t>  left</a:t>
            </a:r>
            <a:endParaRPr b="0" i="0" sz="3200" u="none" cap="none" strike="noStrike">
              <a:solidFill>
                <a:schemeClr val="dk1"/>
              </a:solidFill>
              <a:latin typeface="Calibri"/>
              <a:ea typeface="Calibri"/>
              <a:cs typeface="Calibri"/>
              <a:sym typeface="Calibri"/>
            </a:endParaRPr>
          </a:p>
        </p:txBody>
      </p:sp>
      <p:sp>
        <p:nvSpPr>
          <p:cNvPr id="97" name="Google Shape;97;p4"/>
          <p:cNvSpPr txBox="1"/>
          <p:nvPr/>
        </p:nvSpPr>
        <p:spPr>
          <a:xfrm>
            <a:off x="6035040" y="2450592"/>
            <a:ext cx="24688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ourier New"/>
              <a:buNone/>
            </a:pPr>
            <a:r>
              <a:rPr b="1" i="0" lang="en-US" sz="1000" u="none" cap="none" strike="noStrike">
                <a:solidFill>
                  <a:srgbClr val="6B6B6B"/>
                </a:solidFill>
                <a:latin typeface="Courier New"/>
                <a:ea typeface="Courier New"/>
                <a:cs typeface="Courier New"/>
                <a:sym typeface="Courier New"/>
              </a:rPr>
              <a:t>SIZE</a:t>
            </a:r>
            <a:endParaRPr b="0" i="0" sz="1000" u="none" cap="none" strike="noStrike">
              <a:solidFill>
                <a:schemeClr val="dk1"/>
              </a:solidFill>
              <a:latin typeface="Calibri"/>
              <a:ea typeface="Calibri"/>
              <a:cs typeface="Calibri"/>
              <a:sym typeface="Calibri"/>
            </a:endParaRPr>
          </a:p>
        </p:txBody>
      </p:sp>
      <p:sp>
        <p:nvSpPr>
          <p:cNvPr id="98" name="Google Shape;98;p4"/>
          <p:cNvSpPr txBox="1"/>
          <p:nvPr/>
        </p:nvSpPr>
        <p:spPr>
          <a:xfrm>
            <a:off x="6035040" y="2651760"/>
            <a:ext cx="2514600" cy="4389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B1F"/>
              </a:buClr>
              <a:buSzPts val="1300"/>
              <a:buFont typeface="Calibri"/>
              <a:buNone/>
            </a:pPr>
            <a:r>
              <a:rPr b="0" i="0" lang="en-US" sz="1300" u="none" cap="none" strike="noStrike">
                <a:solidFill>
                  <a:srgbClr val="1B1B1F"/>
                </a:solidFill>
                <a:latin typeface="Calibri"/>
                <a:ea typeface="Calibri"/>
                <a:cs typeface="Calibri"/>
                <a:sym typeface="Calibri"/>
              </a:rPr>
              <a:t>682 customers, 8% of the base</a:t>
            </a:r>
            <a:endParaRPr b="0" i="0" sz="1300" u="none" cap="none" strike="noStrike">
              <a:solidFill>
                <a:schemeClr val="dk1"/>
              </a:solidFill>
              <a:latin typeface="Calibri"/>
              <a:ea typeface="Calibri"/>
              <a:cs typeface="Calibri"/>
              <a:sym typeface="Calibri"/>
            </a:endParaRPr>
          </a:p>
        </p:txBody>
      </p:sp>
      <p:sp>
        <p:nvSpPr>
          <p:cNvPr id="99" name="Google Shape;99;p4"/>
          <p:cNvSpPr txBox="1"/>
          <p:nvPr/>
        </p:nvSpPr>
        <p:spPr>
          <a:xfrm>
            <a:off x="6035040" y="3136392"/>
            <a:ext cx="24688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ourier New"/>
              <a:buNone/>
            </a:pPr>
            <a:r>
              <a:rPr b="1" i="0" lang="en-US" sz="1000" u="none" cap="none" strike="noStrike">
                <a:solidFill>
                  <a:srgbClr val="6B6B6B"/>
                </a:solidFill>
                <a:latin typeface="Courier New"/>
                <a:ea typeface="Courier New"/>
                <a:cs typeface="Courier New"/>
                <a:sym typeface="Courier New"/>
              </a:rPr>
              <a:t>MOTIVE</a:t>
            </a:r>
            <a:endParaRPr b="0" i="0" sz="1000" u="none" cap="none" strike="noStrike">
              <a:solidFill>
                <a:schemeClr val="dk1"/>
              </a:solidFill>
              <a:latin typeface="Calibri"/>
              <a:ea typeface="Calibri"/>
              <a:cs typeface="Calibri"/>
              <a:sym typeface="Calibri"/>
            </a:endParaRPr>
          </a:p>
        </p:txBody>
      </p:sp>
      <p:sp>
        <p:nvSpPr>
          <p:cNvPr id="100" name="Google Shape;100;p4"/>
          <p:cNvSpPr txBox="1"/>
          <p:nvPr/>
        </p:nvSpPr>
        <p:spPr>
          <a:xfrm>
            <a:off x="6035040" y="3337560"/>
            <a:ext cx="2514600" cy="4389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B1F"/>
              </a:buClr>
              <a:buSzPts val="1300"/>
              <a:buFont typeface="Calibri"/>
              <a:buNone/>
            </a:pPr>
            <a:r>
              <a:rPr b="0" i="0" lang="en-US" sz="1300" u="none" cap="none" strike="noStrike">
                <a:solidFill>
                  <a:srgbClr val="1B1B1F"/>
                </a:solidFill>
                <a:latin typeface="Calibri"/>
                <a:ea typeface="Calibri"/>
                <a:cs typeface="Calibri"/>
                <a:sym typeface="Calibri"/>
              </a:rPr>
              <a:t>Billing problem not fixed the first time</a:t>
            </a:r>
            <a:endParaRPr b="0" i="0" sz="1300" u="none" cap="none" strike="noStrike">
              <a:solidFill>
                <a:schemeClr val="dk1"/>
              </a:solidFill>
              <a:latin typeface="Calibri"/>
              <a:ea typeface="Calibri"/>
              <a:cs typeface="Calibri"/>
              <a:sym typeface="Calibri"/>
            </a:endParaRPr>
          </a:p>
        </p:txBody>
      </p:sp>
      <p:sp>
        <p:nvSpPr>
          <p:cNvPr id="101" name="Google Shape;101;p4"/>
          <p:cNvSpPr txBox="1"/>
          <p:nvPr/>
        </p:nvSpPr>
        <p:spPr>
          <a:xfrm>
            <a:off x="6035040" y="3822192"/>
            <a:ext cx="24688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ourier New"/>
              <a:buNone/>
            </a:pPr>
            <a:r>
              <a:rPr b="1" i="0" lang="en-US" sz="1000" u="none" cap="none" strike="noStrike">
                <a:solidFill>
                  <a:srgbClr val="6B6B6B"/>
                </a:solidFill>
                <a:latin typeface="Courier New"/>
                <a:ea typeface="Courier New"/>
                <a:cs typeface="Courier New"/>
                <a:sym typeface="Courier New"/>
              </a:rPr>
              <a:t>SHARE OF ALL CHURN</a:t>
            </a:r>
            <a:endParaRPr b="0" i="0" sz="1000" u="none" cap="none" strike="noStrike">
              <a:solidFill>
                <a:schemeClr val="dk1"/>
              </a:solidFill>
              <a:latin typeface="Calibri"/>
              <a:ea typeface="Calibri"/>
              <a:cs typeface="Calibri"/>
              <a:sym typeface="Calibri"/>
            </a:endParaRPr>
          </a:p>
        </p:txBody>
      </p:sp>
      <p:sp>
        <p:nvSpPr>
          <p:cNvPr id="102" name="Google Shape;102;p4"/>
          <p:cNvSpPr txBox="1"/>
          <p:nvPr/>
        </p:nvSpPr>
        <p:spPr>
          <a:xfrm>
            <a:off x="6035040" y="4023360"/>
            <a:ext cx="251460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B1F"/>
              </a:buClr>
              <a:buSzPts val="1300"/>
              <a:buFont typeface="Calibri"/>
              <a:buNone/>
            </a:pPr>
            <a:r>
              <a:rPr b="0" i="0" lang="en-US" sz="1300" u="none" cap="none" strike="noStrike">
                <a:solidFill>
                  <a:srgbClr val="1B1B1F"/>
                </a:solidFill>
                <a:latin typeface="Calibri"/>
                <a:ea typeface="Calibri"/>
                <a:cs typeface="Calibri"/>
                <a:sym typeface="Calibri"/>
              </a:rPr>
              <a:t>47% of everyone who left came from this group (385 of 825)</a:t>
            </a:r>
            <a:endParaRPr b="0" i="0" sz="1300" u="none" cap="none" strike="noStrike">
              <a:solidFill>
                <a:schemeClr val="dk1"/>
              </a:solidFill>
              <a:latin typeface="Calibri"/>
              <a:ea typeface="Calibri"/>
              <a:cs typeface="Calibri"/>
              <a:sym typeface="Calibri"/>
            </a:endParaRPr>
          </a:p>
        </p:txBody>
      </p:sp>
      <p:sp>
        <p:nvSpPr>
          <p:cNvPr id="103" name="Google Shape;103;p4"/>
          <p:cNvSpPr txBox="1"/>
          <p:nvPr>
            <p:ph idx="4294967295" type="sldNum"/>
          </p:nvPr>
        </p:nvSpPr>
        <p:spPr>
          <a:xfrm>
            <a:off x="8229600" y="4754880"/>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6B6B6B"/>
                </a:solidFill>
                <a:latin typeface="Courier New"/>
                <a:ea typeface="Courier New"/>
                <a:cs typeface="Courier New"/>
                <a:sym typeface="Courier New"/>
              </a:rPr>
              <a:t>‹#›</a:t>
            </a:fld>
            <a:endParaRPr b="0" i="0" sz="900" u="none" cap="none" strike="noStrike">
              <a:solidFill>
                <a:srgbClr val="6B6B6B"/>
              </a:solidFill>
              <a:latin typeface="Courier New"/>
              <a:ea typeface="Courier New"/>
              <a:cs typeface="Courier New"/>
              <a:sym typeface="Courier New"/>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5"/>
          <p:cNvSpPr/>
          <p:nvPr/>
        </p:nvSpPr>
        <p:spPr>
          <a:xfrm>
            <a:off x="457200" y="201168"/>
            <a:ext cx="1737360" cy="256032"/>
          </a:xfrm>
          <a:prstGeom prst="roundRect">
            <a:avLst>
              <a:gd fmla="val 17857" name="adj"/>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5"/>
          <p:cNvSpPr txBox="1"/>
          <p:nvPr/>
        </p:nvSpPr>
        <p:spPr>
          <a:xfrm>
            <a:off x="457200" y="201168"/>
            <a:ext cx="17373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000"/>
              <a:buFont typeface="Courier New"/>
              <a:buNone/>
            </a:pPr>
            <a:r>
              <a:rPr b="1" i="0" lang="en-US" sz="1000" u="none" cap="none" strike="noStrike">
                <a:solidFill>
                  <a:schemeClr val="lt1"/>
                </a:solidFill>
                <a:latin typeface="Courier New"/>
                <a:ea typeface="Courier New"/>
                <a:cs typeface="Courier New"/>
                <a:sym typeface="Courier New"/>
              </a:rPr>
              <a:t>SUSPECT #2</a:t>
            </a:r>
            <a:endParaRPr b="0" i="0" sz="1000" u="none" cap="none" strike="noStrike">
              <a:solidFill>
                <a:schemeClr val="dk1"/>
              </a:solidFill>
              <a:latin typeface="Calibri"/>
              <a:ea typeface="Calibri"/>
              <a:cs typeface="Calibri"/>
              <a:sym typeface="Calibri"/>
            </a:endParaRPr>
          </a:p>
        </p:txBody>
      </p:sp>
      <p:sp>
        <p:nvSpPr>
          <p:cNvPr id="111" name="Google Shape;111;p5"/>
          <p:cNvSpPr txBox="1"/>
          <p:nvPr>
            <p:ph type="title"/>
          </p:nvPr>
        </p:nvSpPr>
        <p:spPr>
          <a:xfrm>
            <a:off x="457200" y="502920"/>
            <a:ext cx="8229600" cy="6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2800"/>
              <a:buFont typeface="Bookman Old Style"/>
              <a:buNone/>
            </a:pPr>
            <a:r>
              <a:rPr b="1" lang="en-US" sz="2800">
                <a:solidFill>
                  <a:schemeClr val="dk2"/>
                </a:solidFill>
                <a:latin typeface="Bookman Old Style"/>
                <a:ea typeface="Bookman Old Style"/>
                <a:cs typeface="Bookman Old Style"/>
                <a:sym typeface="Bookman Old Style"/>
              </a:rPr>
              <a:t>Promo Ghosts: they sign up, then vanish</a:t>
            </a:r>
            <a:endParaRPr sz="2800"/>
          </a:p>
        </p:txBody>
      </p:sp>
      <p:sp>
        <p:nvSpPr>
          <p:cNvPr id="112" name="Google Shape;112;p5"/>
          <p:cNvSpPr/>
          <p:nvPr/>
        </p:nvSpPr>
        <p:spPr>
          <a:xfrm>
            <a:off x="548640" y="1097280"/>
            <a:ext cx="1234440" cy="384048"/>
          </a:xfrm>
          <a:prstGeom prst="roundRect">
            <a:avLst>
              <a:gd fmla="val 14286" name="adj"/>
            </a:avLst>
          </a:prstGeom>
          <a:solidFill>
            <a:schemeClr val="dk2"/>
          </a:solidFill>
          <a:ln cap="flat" cmpd="sng" w="127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5"/>
          <p:cNvSpPr txBox="1"/>
          <p:nvPr/>
        </p:nvSpPr>
        <p:spPr>
          <a:xfrm>
            <a:off x="548640" y="1097280"/>
            <a:ext cx="12344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000"/>
              <a:buFont typeface="Courier New"/>
              <a:buNone/>
            </a:pPr>
            <a:r>
              <a:rPr b="1" i="0" lang="en-US" sz="1000" u="none" cap="none" strike="noStrike">
                <a:solidFill>
                  <a:schemeClr val="lt1"/>
                </a:solidFill>
                <a:latin typeface="Courier New"/>
                <a:ea typeface="Courier New"/>
                <a:cs typeface="Courier New"/>
                <a:sym typeface="Courier New"/>
              </a:rPr>
              <a:t>EXHIBIT B</a:t>
            </a:r>
            <a:endParaRPr b="0" i="0" sz="1000" u="none" cap="none" strike="noStrike">
              <a:solidFill>
                <a:schemeClr val="dk1"/>
              </a:solidFill>
              <a:latin typeface="Calibri"/>
              <a:ea typeface="Calibri"/>
              <a:cs typeface="Calibri"/>
              <a:sym typeface="Calibri"/>
            </a:endParaRPr>
          </a:p>
        </p:txBody>
      </p:sp>
      <p:sp>
        <p:nvSpPr>
          <p:cNvPr id="114" name="Google Shape;114;p5"/>
          <p:cNvSpPr/>
          <p:nvPr/>
        </p:nvSpPr>
        <p:spPr>
          <a:xfrm>
            <a:off x="457200" y="1371600"/>
            <a:ext cx="5120640" cy="3200400"/>
          </a:xfrm>
          <a:prstGeom prst="rect">
            <a:avLst/>
          </a:prstGeom>
          <a:solidFill>
            <a:srgbClr val="FFFFFF"/>
          </a:solidFill>
          <a:ln cap="flat" cmpd="sng" w="9525">
            <a:solidFill>
              <a:srgbClr val="D9D9D6"/>
            </a:solidFill>
            <a:prstDash val="solid"/>
            <a:round/>
            <a:headEnd len="sm" w="sm" type="none"/>
            <a:tailEnd len="sm" w="sm" type="none"/>
          </a:ln>
          <a:effectLst>
            <a:outerShdw blurRad="508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115" name="Google Shape;115;p5"/>
          <p:cNvGraphicFramePr/>
          <p:nvPr/>
        </p:nvGraphicFramePr>
        <p:xfrm>
          <a:off x="594360" y="1463040"/>
          <a:ext cx="4846320" cy="3017520"/>
        </p:xfrm>
        <a:graphic>
          <a:graphicData uri="http://schemas.openxmlformats.org/drawingml/2006/chart">
            <c:chart r:id="rId3"/>
          </a:graphicData>
        </a:graphic>
      </p:graphicFrame>
      <p:sp>
        <p:nvSpPr>
          <p:cNvPr id="116" name="Google Shape;116;p5"/>
          <p:cNvSpPr/>
          <p:nvPr/>
        </p:nvSpPr>
        <p:spPr>
          <a:xfrm>
            <a:off x="5852160" y="1371600"/>
            <a:ext cx="2834640" cy="3200400"/>
          </a:xfrm>
          <a:prstGeom prst="rect">
            <a:avLst/>
          </a:prstGeom>
          <a:solidFill>
            <a:srgbClr val="FFFFFF"/>
          </a:solidFill>
          <a:ln cap="flat" cmpd="sng" w="9525">
            <a:solidFill>
              <a:srgbClr val="D9D9D6"/>
            </a:solidFill>
            <a:prstDash val="solid"/>
            <a:round/>
            <a:headEnd len="sm" w="sm" type="none"/>
            <a:tailEnd len="sm" w="sm" type="none"/>
          </a:ln>
          <a:effectLst>
            <a:outerShdw blurRad="508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5"/>
          <p:cNvSpPr/>
          <p:nvPr/>
        </p:nvSpPr>
        <p:spPr>
          <a:xfrm>
            <a:off x="7168896" y="1271016"/>
            <a:ext cx="201168" cy="201168"/>
          </a:xfrm>
          <a:prstGeom prst="ellipse">
            <a:avLst/>
          </a:prstGeom>
          <a:solidFill>
            <a:schemeClr val="accent1"/>
          </a:solidFill>
          <a:ln cap="flat" cmpd="sng" w="12700">
            <a:solidFill>
              <a:srgbClr val="7A231D"/>
            </a:solidFill>
            <a:prstDash val="solid"/>
            <a:round/>
            <a:headEnd len="sm" w="sm" type="none"/>
            <a:tailEnd len="sm" w="sm" type="none"/>
          </a:ln>
          <a:effectLst>
            <a:outerShdw blurRad="38100" rotWithShape="0" algn="bl" dir="5400000" dist="254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5"/>
          <p:cNvSpPr txBox="1"/>
          <p:nvPr/>
        </p:nvSpPr>
        <p:spPr>
          <a:xfrm>
            <a:off x="6035040" y="1536192"/>
            <a:ext cx="24688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322A"/>
              </a:buClr>
              <a:buSzPts val="1100"/>
              <a:buFont typeface="Courier New"/>
              <a:buNone/>
            </a:pPr>
            <a:r>
              <a:rPr b="1" i="0" lang="en-US" sz="1100" u="none" cap="none" strike="noStrike">
                <a:solidFill>
                  <a:srgbClr val="A8322A"/>
                </a:solidFill>
                <a:latin typeface="Courier New"/>
                <a:ea typeface="Courier New"/>
                <a:cs typeface="Courier New"/>
                <a:sym typeface="Courier New"/>
              </a:rPr>
              <a:t>SUSPECT PROFILE</a:t>
            </a:r>
            <a:endParaRPr b="0" i="0" sz="1100" u="none" cap="none" strike="noStrike">
              <a:solidFill>
                <a:schemeClr val="dk1"/>
              </a:solidFill>
              <a:latin typeface="Calibri"/>
              <a:ea typeface="Calibri"/>
              <a:cs typeface="Calibri"/>
              <a:sym typeface="Calibri"/>
            </a:endParaRPr>
          </a:p>
        </p:txBody>
      </p:sp>
      <p:sp>
        <p:nvSpPr>
          <p:cNvPr id="119" name="Google Shape;119;p5"/>
          <p:cNvSpPr txBox="1"/>
          <p:nvPr/>
        </p:nvSpPr>
        <p:spPr>
          <a:xfrm>
            <a:off x="6035040" y="1810512"/>
            <a:ext cx="25146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322A"/>
              </a:buClr>
              <a:buSzPts val="3200"/>
              <a:buFont typeface="Bookman Old Style"/>
              <a:buNone/>
            </a:pPr>
            <a:r>
              <a:rPr b="1" i="0" lang="en-US" sz="3200" u="none" cap="none" strike="noStrike">
                <a:solidFill>
                  <a:srgbClr val="A8322A"/>
                </a:solidFill>
                <a:latin typeface="Bookman Old Style"/>
                <a:ea typeface="Bookman Old Style"/>
                <a:cs typeface="Bookman Old Style"/>
                <a:sym typeface="Bookman Old Style"/>
              </a:rPr>
              <a:t>51.7%</a:t>
            </a:r>
            <a:r>
              <a:rPr b="1" i="0" lang="en-US" sz="1400" u="none" cap="none" strike="noStrike">
                <a:solidFill>
                  <a:srgbClr val="1B1B1F"/>
                </a:solidFill>
                <a:latin typeface="Calibri"/>
                <a:ea typeface="Calibri"/>
                <a:cs typeface="Calibri"/>
                <a:sym typeface="Calibri"/>
              </a:rPr>
              <a:t>  left</a:t>
            </a:r>
            <a:endParaRPr b="0" i="0" sz="3200" u="none" cap="none" strike="noStrike">
              <a:solidFill>
                <a:schemeClr val="dk1"/>
              </a:solidFill>
              <a:latin typeface="Calibri"/>
              <a:ea typeface="Calibri"/>
              <a:cs typeface="Calibri"/>
              <a:sym typeface="Calibri"/>
            </a:endParaRPr>
          </a:p>
        </p:txBody>
      </p:sp>
      <p:sp>
        <p:nvSpPr>
          <p:cNvPr id="120" name="Google Shape;120;p5"/>
          <p:cNvSpPr txBox="1"/>
          <p:nvPr/>
        </p:nvSpPr>
        <p:spPr>
          <a:xfrm>
            <a:off x="6035040" y="2450592"/>
            <a:ext cx="24688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ourier New"/>
              <a:buNone/>
            </a:pPr>
            <a:r>
              <a:rPr b="1" i="0" lang="en-US" sz="1000" u="none" cap="none" strike="noStrike">
                <a:solidFill>
                  <a:srgbClr val="6B6B6B"/>
                </a:solidFill>
                <a:latin typeface="Courier New"/>
                <a:ea typeface="Courier New"/>
                <a:cs typeface="Courier New"/>
                <a:sym typeface="Courier New"/>
              </a:rPr>
              <a:t>SIZE</a:t>
            </a:r>
            <a:endParaRPr b="0" i="0" sz="1000" u="none" cap="none" strike="noStrike">
              <a:solidFill>
                <a:schemeClr val="dk1"/>
              </a:solidFill>
              <a:latin typeface="Calibri"/>
              <a:ea typeface="Calibri"/>
              <a:cs typeface="Calibri"/>
              <a:sym typeface="Calibri"/>
            </a:endParaRPr>
          </a:p>
        </p:txBody>
      </p:sp>
      <p:sp>
        <p:nvSpPr>
          <p:cNvPr id="121" name="Google Shape;121;p5"/>
          <p:cNvSpPr txBox="1"/>
          <p:nvPr/>
        </p:nvSpPr>
        <p:spPr>
          <a:xfrm>
            <a:off x="6035040" y="2651760"/>
            <a:ext cx="2514600" cy="4389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B1F"/>
              </a:buClr>
              <a:buSzPts val="1300"/>
              <a:buFont typeface="Calibri"/>
              <a:buNone/>
            </a:pPr>
            <a:r>
              <a:rPr b="0" i="0" lang="en-US" sz="1300" u="none" cap="none" strike="noStrike">
                <a:solidFill>
                  <a:srgbClr val="1B1B1F"/>
                </a:solidFill>
                <a:latin typeface="Calibri"/>
                <a:ea typeface="Calibri"/>
                <a:cs typeface="Calibri"/>
                <a:sym typeface="Calibri"/>
              </a:rPr>
              <a:t>435 customers, 5% of the base</a:t>
            </a:r>
            <a:endParaRPr b="0" i="0" sz="1300" u="none" cap="none" strike="noStrike">
              <a:solidFill>
                <a:schemeClr val="dk1"/>
              </a:solidFill>
              <a:latin typeface="Calibri"/>
              <a:ea typeface="Calibri"/>
              <a:cs typeface="Calibri"/>
              <a:sym typeface="Calibri"/>
            </a:endParaRPr>
          </a:p>
        </p:txBody>
      </p:sp>
      <p:sp>
        <p:nvSpPr>
          <p:cNvPr id="122" name="Google Shape;122;p5"/>
          <p:cNvSpPr txBox="1"/>
          <p:nvPr/>
        </p:nvSpPr>
        <p:spPr>
          <a:xfrm>
            <a:off x="6035040" y="3136392"/>
            <a:ext cx="24688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ourier New"/>
              <a:buNone/>
            </a:pPr>
            <a:r>
              <a:rPr b="1" i="0" lang="en-US" sz="1000" u="none" cap="none" strike="noStrike">
                <a:solidFill>
                  <a:srgbClr val="6B6B6B"/>
                </a:solidFill>
                <a:latin typeface="Courier New"/>
                <a:ea typeface="Courier New"/>
                <a:cs typeface="Courier New"/>
                <a:sym typeface="Courier New"/>
              </a:rPr>
              <a:t>PREMIUM TWIST</a:t>
            </a:r>
            <a:endParaRPr b="0" i="0" sz="1000" u="none" cap="none" strike="noStrike">
              <a:solidFill>
                <a:schemeClr val="dk1"/>
              </a:solidFill>
              <a:latin typeface="Calibri"/>
              <a:ea typeface="Calibri"/>
              <a:cs typeface="Calibri"/>
              <a:sym typeface="Calibri"/>
            </a:endParaRPr>
          </a:p>
        </p:txBody>
      </p:sp>
      <p:sp>
        <p:nvSpPr>
          <p:cNvPr id="123" name="Google Shape;123;p5"/>
          <p:cNvSpPr txBox="1"/>
          <p:nvPr/>
        </p:nvSpPr>
        <p:spPr>
          <a:xfrm>
            <a:off x="6035040" y="3337560"/>
            <a:ext cx="2514600" cy="4389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B1F"/>
              </a:buClr>
              <a:buSzPts val="1300"/>
              <a:buFont typeface="Calibri"/>
              <a:buNone/>
            </a:pPr>
            <a:r>
              <a:rPr b="0" i="0" lang="en-US" sz="1300" u="none" cap="none" strike="noStrike">
                <a:solidFill>
                  <a:srgbClr val="1B1B1F"/>
                </a:solidFill>
                <a:latin typeface="Calibri"/>
                <a:ea typeface="Calibri"/>
                <a:cs typeface="Calibri"/>
                <a:sym typeface="Calibri"/>
              </a:rPr>
              <a:t>8 in 10 are on Premium, and 63% of those left</a:t>
            </a:r>
            <a:endParaRPr b="0" i="0" sz="1300" u="none" cap="none" strike="noStrike">
              <a:solidFill>
                <a:schemeClr val="dk1"/>
              </a:solidFill>
              <a:latin typeface="Calibri"/>
              <a:ea typeface="Calibri"/>
              <a:cs typeface="Calibri"/>
              <a:sym typeface="Calibri"/>
            </a:endParaRPr>
          </a:p>
        </p:txBody>
      </p:sp>
      <p:sp>
        <p:nvSpPr>
          <p:cNvPr id="124" name="Google Shape;124;p5"/>
          <p:cNvSpPr txBox="1"/>
          <p:nvPr/>
        </p:nvSpPr>
        <p:spPr>
          <a:xfrm>
            <a:off x="6035040" y="3822192"/>
            <a:ext cx="24688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1000"/>
              <a:buFont typeface="Courier New"/>
              <a:buNone/>
            </a:pPr>
            <a:r>
              <a:rPr b="1" i="0" lang="en-US" sz="1000" u="none" cap="none" strike="noStrike">
                <a:solidFill>
                  <a:srgbClr val="6B6B6B"/>
                </a:solidFill>
                <a:latin typeface="Courier New"/>
                <a:ea typeface="Courier New"/>
                <a:cs typeface="Courier New"/>
                <a:sym typeface="Courier New"/>
              </a:rPr>
              <a:t>SHARE OF ALL CHURN</a:t>
            </a:r>
            <a:endParaRPr b="0" i="0" sz="1000" u="none" cap="none" strike="noStrike">
              <a:solidFill>
                <a:schemeClr val="dk1"/>
              </a:solidFill>
              <a:latin typeface="Calibri"/>
              <a:ea typeface="Calibri"/>
              <a:cs typeface="Calibri"/>
              <a:sym typeface="Calibri"/>
            </a:endParaRPr>
          </a:p>
        </p:txBody>
      </p:sp>
      <p:sp>
        <p:nvSpPr>
          <p:cNvPr id="125" name="Google Shape;125;p5"/>
          <p:cNvSpPr txBox="1"/>
          <p:nvPr/>
        </p:nvSpPr>
        <p:spPr>
          <a:xfrm>
            <a:off x="6035040" y="4023360"/>
            <a:ext cx="251460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B1F"/>
              </a:buClr>
              <a:buSzPts val="1300"/>
              <a:buFont typeface="Calibri"/>
              <a:buNone/>
            </a:pPr>
            <a:r>
              <a:rPr b="0" i="0" lang="en-US" sz="1300" u="none" cap="none" strike="noStrike">
                <a:solidFill>
                  <a:srgbClr val="1B1B1F"/>
                </a:solidFill>
                <a:latin typeface="Calibri"/>
                <a:ea typeface="Calibri"/>
                <a:cs typeface="Calibri"/>
                <a:sym typeface="Calibri"/>
              </a:rPr>
              <a:t>27% of everyone who left came from this group (225 of 825)</a:t>
            </a:r>
            <a:endParaRPr b="0" i="0" sz="1300" u="none" cap="none" strike="noStrike">
              <a:solidFill>
                <a:schemeClr val="dk1"/>
              </a:solidFill>
              <a:latin typeface="Calibri"/>
              <a:ea typeface="Calibri"/>
              <a:cs typeface="Calibri"/>
              <a:sym typeface="Calibri"/>
            </a:endParaRPr>
          </a:p>
        </p:txBody>
      </p:sp>
      <p:sp>
        <p:nvSpPr>
          <p:cNvPr id="126" name="Google Shape;126;p5"/>
          <p:cNvSpPr txBox="1"/>
          <p:nvPr>
            <p:ph idx="4294967295" type="sldNum"/>
          </p:nvPr>
        </p:nvSpPr>
        <p:spPr>
          <a:xfrm>
            <a:off x="8229600" y="4754880"/>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6B6B6B"/>
                </a:solidFill>
                <a:latin typeface="Courier New"/>
                <a:ea typeface="Courier New"/>
                <a:cs typeface="Courier New"/>
                <a:sym typeface="Courier New"/>
              </a:rPr>
              <a:t>‹#›</a:t>
            </a:fld>
            <a:endParaRPr b="0" i="0" sz="900" u="none" cap="none" strike="noStrike">
              <a:solidFill>
                <a:srgbClr val="6B6B6B"/>
              </a:solidFill>
              <a:latin typeface="Courier New"/>
              <a:ea typeface="Courier New"/>
              <a:cs typeface="Courier New"/>
              <a:sym typeface="Courier New"/>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6"/>
          <p:cNvSpPr/>
          <p:nvPr/>
        </p:nvSpPr>
        <p:spPr>
          <a:xfrm>
            <a:off x="457200" y="201168"/>
            <a:ext cx="1737360" cy="256032"/>
          </a:xfrm>
          <a:prstGeom prst="roundRect">
            <a:avLst>
              <a:gd fmla="val 17857" name="adj"/>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6"/>
          <p:cNvSpPr txBox="1"/>
          <p:nvPr/>
        </p:nvSpPr>
        <p:spPr>
          <a:xfrm>
            <a:off x="457200" y="201168"/>
            <a:ext cx="17373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000"/>
              <a:buFont typeface="Courier New"/>
              <a:buNone/>
            </a:pPr>
            <a:r>
              <a:rPr b="1" i="0" lang="en-US" sz="1000" u="none" cap="none" strike="noStrike">
                <a:solidFill>
                  <a:schemeClr val="lt1"/>
                </a:solidFill>
                <a:latin typeface="Courier New"/>
                <a:ea typeface="Courier New"/>
                <a:cs typeface="Courier New"/>
                <a:sym typeface="Courier New"/>
              </a:rPr>
              <a:t>THE INNOCENT</a:t>
            </a:r>
            <a:endParaRPr b="0" i="0" sz="1000" u="none" cap="none" strike="noStrike">
              <a:solidFill>
                <a:schemeClr val="dk1"/>
              </a:solidFill>
              <a:latin typeface="Calibri"/>
              <a:ea typeface="Calibri"/>
              <a:cs typeface="Calibri"/>
              <a:sym typeface="Calibri"/>
            </a:endParaRPr>
          </a:p>
        </p:txBody>
      </p:sp>
      <p:sp>
        <p:nvSpPr>
          <p:cNvPr id="134" name="Google Shape;134;p6"/>
          <p:cNvSpPr txBox="1"/>
          <p:nvPr>
            <p:ph type="title"/>
          </p:nvPr>
        </p:nvSpPr>
        <p:spPr>
          <a:xfrm>
            <a:off x="457200" y="502920"/>
            <a:ext cx="8229600" cy="6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2800"/>
              <a:buFont typeface="Bookman Old Style"/>
              <a:buNone/>
            </a:pPr>
            <a:r>
              <a:rPr b="1" lang="en-US" sz="2800">
                <a:solidFill>
                  <a:schemeClr val="dk2"/>
                </a:solidFill>
                <a:latin typeface="Bookman Old Style"/>
                <a:ea typeface="Bookman Old Style"/>
                <a:cs typeface="Bookman Old Style"/>
                <a:sym typeface="Bookman Old Style"/>
              </a:rPr>
              <a:t>Everyone else: only 3.1% leave</a:t>
            </a:r>
            <a:endParaRPr sz="2800"/>
          </a:p>
        </p:txBody>
      </p:sp>
      <p:sp>
        <p:nvSpPr>
          <p:cNvPr id="135" name="Google Shape;135;p6"/>
          <p:cNvSpPr/>
          <p:nvPr/>
        </p:nvSpPr>
        <p:spPr>
          <a:xfrm>
            <a:off x="548640" y="1097280"/>
            <a:ext cx="1234440" cy="384048"/>
          </a:xfrm>
          <a:prstGeom prst="roundRect">
            <a:avLst>
              <a:gd fmla="val 14286" name="adj"/>
            </a:avLst>
          </a:prstGeom>
          <a:solidFill>
            <a:schemeClr val="dk2"/>
          </a:solidFill>
          <a:ln cap="flat" cmpd="sng" w="127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6"/>
          <p:cNvSpPr txBox="1"/>
          <p:nvPr/>
        </p:nvSpPr>
        <p:spPr>
          <a:xfrm>
            <a:off x="548640" y="1097280"/>
            <a:ext cx="12344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000"/>
              <a:buFont typeface="Courier New"/>
              <a:buNone/>
            </a:pPr>
            <a:r>
              <a:rPr b="1" i="0" lang="en-US" sz="1000" u="none" cap="none" strike="noStrike">
                <a:solidFill>
                  <a:schemeClr val="lt1"/>
                </a:solidFill>
                <a:latin typeface="Courier New"/>
                <a:ea typeface="Courier New"/>
                <a:cs typeface="Courier New"/>
                <a:sym typeface="Courier New"/>
              </a:rPr>
              <a:t>EXHIBIT C</a:t>
            </a:r>
            <a:endParaRPr b="0" i="0" sz="1000" u="none" cap="none" strike="noStrike">
              <a:solidFill>
                <a:schemeClr val="dk1"/>
              </a:solidFill>
              <a:latin typeface="Calibri"/>
              <a:ea typeface="Calibri"/>
              <a:cs typeface="Calibri"/>
              <a:sym typeface="Calibri"/>
            </a:endParaRPr>
          </a:p>
        </p:txBody>
      </p:sp>
      <p:sp>
        <p:nvSpPr>
          <p:cNvPr id="137" name="Google Shape;137;p6"/>
          <p:cNvSpPr/>
          <p:nvPr/>
        </p:nvSpPr>
        <p:spPr>
          <a:xfrm>
            <a:off x="457200" y="1371600"/>
            <a:ext cx="5120640" cy="3200400"/>
          </a:xfrm>
          <a:prstGeom prst="rect">
            <a:avLst/>
          </a:prstGeom>
          <a:solidFill>
            <a:srgbClr val="FFFFFF"/>
          </a:solidFill>
          <a:ln cap="flat" cmpd="sng" w="9525">
            <a:solidFill>
              <a:srgbClr val="D9D9D6"/>
            </a:solidFill>
            <a:prstDash val="solid"/>
            <a:round/>
            <a:headEnd len="sm" w="sm" type="none"/>
            <a:tailEnd len="sm" w="sm" type="none"/>
          </a:ln>
          <a:effectLst>
            <a:outerShdw blurRad="508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138" name="Google Shape;138;p6"/>
          <p:cNvGraphicFramePr/>
          <p:nvPr/>
        </p:nvGraphicFramePr>
        <p:xfrm>
          <a:off x="594360" y="1463040"/>
          <a:ext cx="4846320" cy="3017520"/>
        </p:xfrm>
        <a:graphic>
          <a:graphicData uri="http://schemas.openxmlformats.org/drawingml/2006/chart">
            <c:chart r:id="rId3"/>
          </a:graphicData>
        </a:graphic>
      </p:graphicFrame>
      <p:sp>
        <p:nvSpPr>
          <p:cNvPr id="139" name="Google Shape;139;p6"/>
          <p:cNvSpPr txBox="1"/>
          <p:nvPr/>
        </p:nvSpPr>
        <p:spPr>
          <a:xfrm>
            <a:off x="5943600" y="1463040"/>
            <a:ext cx="27432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D3A"/>
              </a:buClr>
              <a:buSzPts val="4000"/>
              <a:buFont typeface="Bookman Old Style"/>
              <a:buNone/>
            </a:pPr>
            <a:r>
              <a:rPr b="1" i="0" lang="en-US" sz="4000" u="none" cap="none" strike="noStrike">
                <a:solidFill>
                  <a:srgbClr val="0B0D3A"/>
                </a:solidFill>
                <a:latin typeface="Bookman Old Style"/>
                <a:ea typeface="Bookman Old Style"/>
                <a:cs typeface="Bookman Old Style"/>
                <a:sym typeface="Bookman Old Style"/>
              </a:rPr>
              <a:t>7,418</a:t>
            </a:r>
            <a:endParaRPr b="0" i="0" sz="4000" u="none" cap="none" strike="noStrike">
              <a:solidFill>
                <a:schemeClr val="dk1"/>
              </a:solidFill>
              <a:latin typeface="Calibri"/>
              <a:ea typeface="Calibri"/>
              <a:cs typeface="Calibri"/>
              <a:sym typeface="Calibri"/>
            </a:endParaRPr>
          </a:p>
        </p:txBody>
      </p:sp>
      <p:sp>
        <p:nvSpPr>
          <p:cNvPr id="140" name="Google Shape;140;p6"/>
          <p:cNvSpPr txBox="1"/>
          <p:nvPr/>
        </p:nvSpPr>
        <p:spPr>
          <a:xfrm>
            <a:off x="5943600" y="2212848"/>
            <a:ext cx="274320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B1F"/>
              </a:buClr>
              <a:buSzPts val="1400"/>
              <a:buFont typeface="Calibri"/>
              <a:buNone/>
            </a:pPr>
            <a:r>
              <a:rPr b="0" i="0" lang="en-US" sz="1400" u="none" cap="none" strike="noStrike">
                <a:solidFill>
                  <a:srgbClr val="1B1B1F"/>
                </a:solidFill>
                <a:latin typeface="Calibri"/>
                <a:ea typeface="Calibri"/>
                <a:cs typeface="Calibri"/>
                <a:sym typeface="Calibri"/>
              </a:rPr>
              <a:t>customers (87%) are outside the two risky groups</a:t>
            </a:r>
            <a:endParaRPr b="0" i="0" sz="1400" u="none" cap="none" strike="noStrike">
              <a:solidFill>
                <a:schemeClr val="dk1"/>
              </a:solidFill>
              <a:latin typeface="Calibri"/>
              <a:ea typeface="Calibri"/>
              <a:cs typeface="Calibri"/>
              <a:sym typeface="Calibri"/>
            </a:endParaRPr>
          </a:p>
        </p:txBody>
      </p:sp>
      <p:sp>
        <p:nvSpPr>
          <p:cNvPr id="141" name="Google Shape;141;p6"/>
          <p:cNvSpPr txBox="1"/>
          <p:nvPr/>
        </p:nvSpPr>
        <p:spPr>
          <a:xfrm>
            <a:off x="5943600" y="2926080"/>
            <a:ext cx="27432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D3A"/>
              </a:buClr>
              <a:buSzPts val="4000"/>
              <a:buFont typeface="Bookman Old Style"/>
              <a:buNone/>
            </a:pPr>
            <a:r>
              <a:rPr b="1" i="0" lang="en-US" sz="4000" u="none" cap="none" strike="noStrike">
                <a:solidFill>
                  <a:srgbClr val="0B0D3A"/>
                </a:solidFill>
                <a:latin typeface="Bookman Old Style"/>
                <a:ea typeface="Bookman Old Style"/>
                <a:cs typeface="Bookman Old Style"/>
                <a:sym typeface="Bookman Old Style"/>
              </a:rPr>
              <a:t>3.1%</a:t>
            </a:r>
            <a:endParaRPr b="0" i="0" sz="4000" u="none" cap="none" strike="noStrike">
              <a:solidFill>
                <a:schemeClr val="dk1"/>
              </a:solidFill>
              <a:latin typeface="Calibri"/>
              <a:ea typeface="Calibri"/>
              <a:cs typeface="Calibri"/>
              <a:sym typeface="Calibri"/>
            </a:endParaRPr>
          </a:p>
        </p:txBody>
      </p:sp>
      <p:sp>
        <p:nvSpPr>
          <p:cNvPr id="142" name="Google Shape;142;p6"/>
          <p:cNvSpPr txBox="1"/>
          <p:nvPr/>
        </p:nvSpPr>
        <p:spPr>
          <a:xfrm>
            <a:off x="5943600" y="3675888"/>
            <a:ext cx="274320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B1F"/>
              </a:buClr>
              <a:buSzPts val="1400"/>
              <a:buFont typeface="Calibri"/>
              <a:buNone/>
            </a:pPr>
            <a:r>
              <a:rPr b="0" i="0" lang="en-US" sz="1400" u="none" cap="none" strike="noStrike">
                <a:solidFill>
                  <a:srgbClr val="1B1B1F"/>
                </a:solidFill>
                <a:latin typeface="Calibri"/>
                <a:ea typeface="Calibri"/>
                <a:cs typeface="Calibri"/>
                <a:sym typeface="Calibri"/>
              </a:rPr>
              <a:t>of them left, vs 56.5% and 51.7% in the risky groups. Flat across age, plan, payment and channel.</a:t>
            </a:r>
            <a:endParaRPr b="0" i="0" sz="1400" u="none" cap="none" strike="noStrike">
              <a:solidFill>
                <a:schemeClr val="dk1"/>
              </a:solidFill>
              <a:latin typeface="Calibri"/>
              <a:ea typeface="Calibri"/>
              <a:cs typeface="Calibri"/>
              <a:sym typeface="Calibri"/>
            </a:endParaRPr>
          </a:p>
        </p:txBody>
      </p:sp>
      <p:sp>
        <p:nvSpPr>
          <p:cNvPr id="143" name="Google Shape;143;p6"/>
          <p:cNvSpPr/>
          <p:nvPr/>
        </p:nvSpPr>
        <p:spPr>
          <a:xfrm rot="-480000">
            <a:off x="6949440" y="411480"/>
            <a:ext cx="1645920" cy="502920"/>
          </a:xfrm>
          <a:prstGeom prst="rect">
            <a:avLst/>
          </a:prstGeom>
          <a:solidFill>
            <a:srgbClr val="FFFFFF">
              <a:alpha val="0"/>
            </a:srgbClr>
          </a:solidFill>
          <a:ln cap="flat" cmpd="sng" w="31750">
            <a:solidFill>
              <a:srgbClr val="0B0D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6"/>
          <p:cNvSpPr txBox="1"/>
          <p:nvPr/>
        </p:nvSpPr>
        <p:spPr>
          <a:xfrm rot="-480000">
            <a:off x="6949440" y="411480"/>
            <a:ext cx="1645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0D3A"/>
              </a:buClr>
              <a:buSzPts val="1800"/>
              <a:buFont typeface="Courier New"/>
              <a:buNone/>
            </a:pPr>
            <a:r>
              <a:rPr b="1" i="0" lang="en-US" sz="1800" u="none" cap="none" strike="noStrike">
                <a:solidFill>
                  <a:srgbClr val="0B0D3A"/>
                </a:solidFill>
                <a:latin typeface="Courier New"/>
                <a:ea typeface="Courier New"/>
                <a:cs typeface="Courier New"/>
                <a:sym typeface="Courier New"/>
              </a:rPr>
              <a:t>CLEARED</a:t>
            </a:r>
            <a:endParaRPr b="0" i="0" sz="1800" u="none" cap="none" strike="noStrike">
              <a:solidFill>
                <a:schemeClr val="dk1"/>
              </a:solidFill>
              <a:latin typeface="Calibri"/>
              <a:ea typeface="Calibri"/>
              <a:cs typeface="Calibri"/>
              <a:sym typeface="Calibri"/>
            </a:endParaRPr>
          </a:p>
        </p:txBody>
      </p:sp>
      <p:sp>
        <p:nvSpPr>
          <p:cNvPr id="145" name="Google Shape;145;p6"/>
          <p:cNvSpPr txBox="1"/>
          <p:nvPr>
            <p:ph idx="4294967295" type="sldNum"/>
          </p:nvPr>
        </p:nvSpPr>
        <p:spPr>
          <a:xfrm>
            <a:off x="8229600" y="4754880"/>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6B6B6B"/>
                </a:solidFill>
                <a:latin typeface="Courier New"/>
                <a:ea typeface="Courier New"/>
                <a:cs typeface="Courier New"/>
                <a:sym typeface="Courier New"/>
              </a:rPr>
              <a:t>‹#›</a:t>
            </a:fld>
            <a:endParaRPr b="0" i="0" sz="900" u="none" cap="none" strike="noStrike">
              <a:solidFill>
                <a:srgbClr val="6B6B6B"/>
              </a:solidFill>
              <a:latin typeface="Courier New"/>
              <a:ea typeface="Courier New"/>
              <a:cs typeface="Courier New"/>
              <a:sym typeface="Courier New"/>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7"/>
          <p:cNvSpPr/>
          <p:nvPr/>
        </p:nvSpPr>
        <p:spPr>
          <a:xfrm>
            <a:off x="457200" y="201168"/>
            <a:ext cx="1737360" cy="256032"/>
          </a:xfrm>
          <a:prstGeom prst="roundRect">
            <a:avLst>
              <a:gd fmla="val 17857" name="adj"/>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7"/>
          <p:cNvSpPr txBox="1"/>
          <p:nvPr/>
        </p:nvSpPr>
        <p:spPr>
          <a:xfrm>
            <a:off x="457200" y="201168"/>
            <a:ext cx="17373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000"/>
              <a:buFont typeface="Courier New"/>
              <a:buNone/>
            </a:pPr>
            <a:r>
              <a:rPr b="1" i="0" lang="en-US" sz="1000" u="none" cap="none" strike="noStrike">
                <a:solidFill>
                  <a:schemeClr val="lt1"/>
                </a:solidFill>
                <a:latin typeface="Courier New"/>
                <a:ea typeface="Courier New"/>
                <a:cs typeface="Courier New"/>
                <a:sym typeface="Courier New"/>
              </a:rPr>
              <a:t>EVIDENCE</a:t>
            </a:r>
            <a:endParaRPr b="0" i="0" sz="1000" u="none" cap="none" strike="noStrike">
              <a:solidFill>
                <a:schemeClr val="dk1"/>
              </a:solidFill>
              <a:latin typeface="Calibri"/>
              <a:ea typeface="Calibri"/>
              <a:cs typeface="Calibri"/>
              <a:sym typeface="Calibri"/>
            </a:endParaRPr>
          </a:p>
        </p:txBody>
      </p:sp>
      <p:sp>
        <p:nvSpPr>
          <p:cNvPr id="153" name="Google Shape;153;p7"/>
          <p:cNvSpPr txBox="1"/>
          <p:nvPr>
            <p:ph type="title"/>
          </p:nvPr>
        </p:nvSpPr>
        <p:spPr>
          <a:xfrm>
            <a:off x="457200" y="502920"/>
            <a:ext cx="8229600" cy="6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2800"/>
              <a:buFont typeface="Bookman Old Style"/>
              <a:buNone/>
            </a:pPr>
            <a:r>
              <a:rPr b="1" lang="en-US" sz="2800">
                <a:solidFill>
                  <a:schemeClr val="dk2"/>
                </a:solidFill>
                <a:latin typeface="Bookman Old Style"/>
                <a:ea typeface="Bookman Old Style"/>
                <a:cs typeface="Bookman Old Style"/>
                <a:sym typeface="Bookman Old Style"/>
              </a:rPr>
              <a:t>Three clues held up; billing leads</a:t>
            </a:r>
            <a:endParaRPr sz="2800"/>
          </a:p>
        </p:txBody>
      </p:sp>
      <p:sp>
        <p:nvSpPr>
          <p:cNvPr id="154" name="Google Shape;154;p7"/>
          <p:cNvSpPr/>
          <p:nvPr/>
        </p:nvSpPr>
        <p:spPr>
          <a:xfrm rot="-480000">
            <a:off x="6766560" y="411480"/>
            <a:ext cx="1828800" cy="502920"/>
          </a:xfrm>
          <a:prstGeom prst="rect">
            <a:avLst/>
          </a:prstGeom>
          <a:solidFill>
            <a:srgbClr val="FFFFFF">
              <a:alpha val="0"/>
            </a:srgbClr>
          </a:solidFill>
          <a:ln cap="flat" cmpd="sng" w="31750">
            <a:solidFill>
              <a:srgbClr val="A832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7"/>
          <p:cNvSpPr txBox="1"/>
          <p:nvPr/>
        </p:nvSpPr>
        <p:spPr>
          <a:xfrm rot="-480000">
            <a:off x="6766560" y="411480"/>
            <a:ext cx="18288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322A"/>
              </a:buClr>
              <a:buSzPts val="1700"/>
              <a:buFont typeface="Courier New"/>
              <a:buNone/>
            </a:pPr>
            <a:r>
              <a:rPr b="1" i="0" lang="en-US" sz="1700" u="none" cap="none" strike="noStrike">
                <a:solidFill>
                  <a:srgbClr val="A8322A"/>
                </a:solidFill>
                <a:latin typeface="Courier New"/>
                <a:ea typeface="Courier New"/>
                <a:cs typeface="Courier New"/>
                <a:sym typeface="Courier New"/>
              </a:rPr>
              <a:t>CONFIRMED</a:t>
            </a:r>
            <a:endParaRPr b="0" i="0" sz="1700" u="none" cap="none" strike="noStrike">
              <a:solidFill>
                <a:schemeClr val="dk1"/>
              </a:solidFill>
              <a:latin typeface="Calibri"/>
              <a:ea typeface="Calibri"/>
              <a:cs typeface="Calibri"/>
              <a:sym typeface="Calibri"/>
            </a:endParaRPr>
          </a:p>
        </p:txBody>
      </p:sp>
      <p:sp>
        <p:nvSpPr>
          <p:cNvPr id="156" name="Google Shape;156;p7"/>
          <p:cNvSpPr/>
          <p:nvPr/>
        </p:nvSpPr>
        <p:spPr>
          <a:xfrm>
            <a:off x="457200" y="1280160"/>
            <a:ext cx="8229600" cy="914400"/>
          </a:xfrm>
          <a:prstGeom prst="rect">
            <a:avLst/>
          </a:prstGeom>
          <a:solidFill>
            <a:srgbClr val="FFFFFF"/>
          </a:solidFill>
          <a:ln cap="flat" cmpd="sng" w="9525">
            <a:solidFill>
              <a:srgbClr val="D9D9D6"/>
            </a:solidFill>
            <a:prstDash val="solid"/>
            <a:round/>
            <a:headEnd len="sm" w="sm" type="none"/>
            <a:tailEnd len="sm" w="sm" type="none"/>
          </a:ln>
          <a:effectLst>
            <a:outerShdw blurRad="508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7"/>
          <p:cNvSpPr/>
          <p:nvPr/>
        </p:nvSpPr>
        <p:spPr>
          <a:xfrm>
            <a:off x="658368" y="1463040"/>
            <a:ext cx="548640" cy="54864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8" name="Google Shape;158;p7"/>
          <p:cNvPicPr preferRelativeResize="0"/>
          <p:nvPr/>
        </p:nvPicPr>
        <p:blipFill rotWithShape="1">
          <a:blip r:embed="rId3">
            <a:alphaModFix/>
          </a:blip>
          <a:srcRect b="0" l="0" r="0" t="0"/>
          <a:stretch/>
        </p:blipFill>
        <p:spPr>
          <a:xfrm>
            <a:off x="786384" y="1591056"/>
            <a:ext cx="292608" cy="292608"/>
          </a:xfrm>
          <a:prstGeom prst="rect">
            <a:avLst/>
          </a:prstGeom>
          <a:noFill/>
          <a:ln>
            <a:noFill/>
          </a:ln>
        </p:spPr>
      </p:pic>
      <p:sp>
        <p:nvSpPr>
          <p:cNvPr id="159" name="Google Shape;159;p7"/>
          <p:cNvSpPr txBox="1"/>
          <p:nvPr/>
        </p:nvSpPr>
        <p:spPr>
          <a:xfrm>
            <a:off x="1371600" y="141732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B1F"/>
              </a:buClr>
              <a:buSzPts val="1700"/>
              <a:buFont typeface="Calibri"/>
              <a:buNone/>
            </a:pPr>
            <a:r>
              <a:rPr b="1" i="0" lang="en-US" sz="1700" u="none" cap="none" strike="noStrike">
                <a:solidFill>
                  <a:srgbClr val="1B1B1F"/>
                </a:solidFill>
                <a:latin typeface="Calibri"/>
                <a:ea typeface="Calibri"/>
                <a:cs typeface="Calibri"/>
                <a:sym typeface="Calibri"/>
              </a:rPr>
              <a:t>#1  Billing tickets</a:t>
            </a:r>
            <a:endParaRPr b="0" i="0" sz="1700" u="none" cap="none" strike="noStrike">
              <a:solidFill>
                <a:schemeClr val="dk1"/>
              </a:solidFill>
              <a:latin typeface="Calibri"/>
              <a:ea typeface="Calibri"/>
              <a:cs typeface="Calibri"/>
              <a:sym typeface="Calibri"/>
            </a:endParaRPr>
          </a:p>
        </p:txBody>
      </p:sp>
      <p:sp>
        <p:nvSpPr>
          <p:cNvPr id="160" name="Google Shape;160;p7"/>
          <p:cNvSpPr txBox="1"/>
          <p:nvPr/>
        </p:nvSpPr>
        <p:spPr>
          <a:xfrm>
            <a:off x="1371600" y="1755648"/>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322A"/>
              </a:buClr>
              <a:buSzPts val="1200"/>
              <a:buFont typeface="Courier New"/>
              <a:buNone/>
            </a:pPr>
            <a:r>
              <a:rPr b="0" i="0" lang="en-US" sz="1200" u="none" cap="none" strike="noStrike">
                <a:solidFill>
                  <a:srgbClr val="A8322A"/>
                </a:solidFill>
                <a:latin typeface="Courier New"/>
                <a:ea typeface="Courier New"/>
                <a:cs typeface="Courier New"/>
                <a:sym typeface="Courier New"/>
              </a:rPr>
              <a:t>Strongest clue</a:t>
            </a:r>
            <a:endParaRPr b="0" i="0" sz="1200" u="none" cap="none" strike="noStrike">
              <a:solidFill>
                <a:schemeClr val="dk1"/>
              </a:solidFill>
              <a:latin typeface="Calibri"/>
              <a:ea typeface="Calibri"/>
              <a:cs typeface="Calibri"/>
              <a:sym typeface="Calibri"/>
            </a:endParaRPr>
          </a:p>
        </p:txBody>
      </p:sp>
      <p:sp>
        <p:nvSpPr>
          <p:cNvPr id="161" name="Google Shape;161;p7"/>
          <p:cNvSpPr txBox="1"/>
          <p:nvPr/>
        </p:nvSpPr>
        <p:spPr>
          <a:xfrm>
            <a:off x="4206240" y="1389888"/>
            <a:ext cx="4297680" cy="6949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3A3A"/>
              </a:buClr>
              <a:buSzPts val="1400"/>
              <a:buFont typeface="Calibri"/>
              <a:buNone/>
            </a:pPr>
            <a:r>
              <a:rPr b="0" i="0" lang="en-US" sz="1400" u="none" cap="none" strike="noStrike">
                <a:solidFill>
                  <a:srgbClr val="3A3A3A"/>
                </a:solidFill>
                <a:latin typeface="Calibri"/>
                <a:ea typeface="Calibri"/>
                <a:cs typeface="Calibri"/>
                <a:sym typeface="Calibri"/>
              </a:rPr>
              <a:t>56.5% left after 2+ billing tickets, vs 5.7% with no ticket</a:t>
            </a:r>
            <a:endParaRPr b="0" i="0" sz="1400" u="none" cap="none" strike="noStrike">
              <a:solidFill>
                <a:schemeClr val="dk1"/>
              </a:solidFill>
              <a:latin typeface="Calibri"/>
              <a:ea typeface="Calibri"/>
              <a:cs typeface="Calibri"/>
              <a:sym typeface="Calibri"/>
            </a:endParaRPr>
          </a:p>
        </p:txBody>
      </p:sp>
      <p:sp>
        <p:nvSpPr>
          <p:cNvPr id="162" name="Google Shape;162;p7"/>
          <p:cNvSpPr/>
          <p:nvPr/>
        </p:nvSpPr>
        <p:spPr>
          <a:xfrm>
            <a:off x="457200" y="2286000"/>
            <a:ext cx="8229600" cy="914400"/>
          </a:xfrm>
          <a:prstGeom prst="rect">
            <a:avLst/>
          </a:prstGeom>
          <a:solidFill>
            <a:srgbClr val="FFFFFF"/>
          </a:solidFill>
          <a:ln cap="flat" cmpd="sng" w="9525">
            <a:solidFill>
              <a:srgbClr val="D9D9D6"/>
            </a:solidFill>
            <a:prstDash val="solid"/>
            <a:round/>
            <a:headEnd len="sm" w="sm" type="none"/>
            <a:tailEnd len="sm" w="sm" type="none"/>
          </a:ln>
          <a:effectLst>
            <a:outerShdw blurRad="508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7"/>
          <p:cNvSpPr/>
          <p:nvPr/>
        </p:nvSpPr>
        <p:spPr>
          <a:xfrm>
            <a:off x="658368" y="2468880"/>
            <a:ext cx="548640" cy="54864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4" name="Google Shape;164;p7"/>
          <p:cNvPicPr preferRelativeResize="0"/>
          <p:nvPr/>
        </p:nvPicPr>
        <p:blipFill rotWithShape="1">
          <a:blip r:embed="rId3">
            <a:alphaModFix/>
          </a:blip>
          <a:srcRect b="0" l="0" r="0" t="0"/>
          <a:stretch/>
        </p:blipFill>
        <p:spPr>
          <a:xfrm>
            <a:off x="786384" y="2596896"/>
            <a:ext cx="292608" cy="292608"/>
          </a:xfrm>
          <a:prstGeom prst="rect">
            <a:avLst/>
          </a:prstGeom>
          <a:noFill/>
          <a:ln>
            <a:noFill/>
          </a:ln>
        </p:spPr>
      </p:pic>
      <p:sp>
        <p:nvSpPr>
          <p:cNvPr id="165" name="Google Shape;165;p7"/>
          <p:cNvSpPr txBox="1"/>
          <p:nvPr/>
        </p:nvSpPr>
        <p:spPr>
          <a:xfrm>
            <a:off x="1371600" y="242316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B1F"/>
              </a:buClr>
              <a:buSzPts val="1700"/>
              <a:buFont typeface="Calibri"/>
              <a:buNone/>
            </a:pPr>
            <a:r>
              <a:rPr b="1" i="0" lang="en-US" sz="1700" u="none" cap="none" strike="noStrike">
                <a:solidFill>
                  <a:srgbClr val="1B1B1F"/>
                </a:solidFill>
                <a:latin typeface="Calibri"/>
                <a:ea typeface="Calibri"/>
                <a:cs typeface="Calibri"/>
                <a:sym typeface="Calibri"/>
              </a:rPr>
              <a:t>#2  Partner-promo signup</a:t>
            </a:r>
            <a:endParaRPr b="0" i="0" sz="1700" u="none" cap="none" strike="noStrike">
              <a:solidFill>
                <a:schemeClr val="dk1"/>
              </a:solidFill>
              <a:latin typeface="Calibri"/>
              <a:ea typeface="Calibri"/>
              <a:cs typeface="Calibri"/>
              <a:sym typeface="Calibri"/>
            </a:endParaRPr>
          </a:p>
        </p:txBody>
      </p:sp>
      <p:sp>
        <p:nvSpPr>
          <p:cNvPr id="166" name="Google Shape;166;p7"/>
          <p:cNvSpPr txBox="1"/>
          <p:nvPr/>
        </p:nvSpPr>
        <p:spPr>
          <a:xfrm>
            <a:off x="1371600" y="2761488"/>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322A"/>
              </a:buClr>
              <a:buSzPts val="1200"/>
              <a:buFont typeface="Courier New"/>
              <a:buNone/>
            </a:pPr>
            <a:r>
              <a:rPr b="0" i="0" lang="en-US" sz="1200" u="none" cap="none" strike="noStrike">
                <a:solidFill>
                  <a:srgbClr val="A8322A"/>
                </a:solidFill>
                <a:latin typeface="Courier New"/>
                <a:ea typeface="Courier New"/>
                <a:cs typeface="Courier New"/>
                <a:sym typeface="Courier New"/>
              </a:rPr>
              <a:t>Strong, mainly with #3</a:t>
            </a:r>
            <a:endParaRPr b="0" i="0" sz="1200" u="none" cap="none" strike="noStrike">
              <a:solidFill>
                <a:schemeClr val="dk1"/>
              </a:solidFill>
              <a:latin typeface="Calibri"/>
              <a:ea typeface="Calibri"/>
              <a:cs typeface="Calibri"/>
              <a:sym typeface="Calibri"/>
            </a:endParaRPr>
          </a:p>
        </p:txBody>
      </p:sp>
      <p:sp>
        <p:nvSpPr>
          <p:cNvPr id="167" name="Google Shape;167;p7"/>
          <p:cNvSpPr txBox="1"/>
          <p:nvPr/>
        </p:nvSpPr>
        <p:spPr>
          <a:xfrm>
            <a:off x="4206240" y="2395728"/>
            <a:ext cx="4297680" cy="6949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3A3A"/>
              </a:buClr>
              <a:buSzPts val="1400"/>
              <a:buFont typeface="Calibri"/>
              <a:buNone/>
            </a:pPr>
            <a:r>
              <a:rPr b="0" i="0" lang="en-US" sz="1400" u="none" cap="none" strike="noStrike">
                <a:solidFill>
                  <a:srgbClr val="3A3A3A"/>
                </a:solidFill>
                <a:latin typeface="Calibri"/>
                <a:ea typeface="Calibri"/>
                <a:cs typeface="Calibri"/>
                <a:sym typeface="Calibri"/>
              </a:rPr>
              <a:t>22.4</a:t>
            </a:r>
            <a:r>
              <a:rPr b="0" i="0" lang="en-US" sz="1400" u="none" cap="none" strike="noStrike">
                <a:solidFill>
                  <a:srgbClr val="3A3A3A"/>
                </a:solidFill>
                <a:latin typeface="Calibri"/>
                <a:ea typeface="Calibri"/>
                <a:cs typeface="Calibri"/>
                <a:sym typeface="Calibri"/>
              </a:rPr>
              <a:t>% left, vs about 7.5% for Web, iOS and Android signups</a:t>
            </a:r>
            <a:endParaRPr b="0" i="0" sz="1400" u="none" cap="none" strike="noStrike">
              <a:solidFill>
                <a:schemeClr val="dk1"/>
              </a:solidFill>
              <a:latin typeface="Calibri"/>
              <a:ea typeface="Calibri"/>
              <a:cs typeface="Calibri"/>
              <a:sym typeface="Calibri"/>
            </a:endParaRPr>
          </a:p>
        </p:txBody>
      </p:sp>
      <p:sp>
        <p:nvSpPr>
          <p:cNvPr id="168" name="Google Shape;168;p7"/>
          <p:cNvSpPr/>
          <p:nvPr/>
        </p:nvSpPr>
        <p:spPr>
          <a:xfrm>
            <a:off x="457200" y="3291840"/>
            <a:ext cx="8229600" cy="914400"/>
          </a:xfrm>
          <a:prstGeom prst="rect">
            <a:avLst/>
          </a:prstGeom>
          <a:solidFill>
            <a:srgbClr val="FFFFFF"/>
          </a:solidFill>
          <a:ln cap="flat" cmpd="sng" w="9525">
            <a:solidFill>
              <a:srgbClr val="D9D9D6"/>
            </a:solidFill>
            <a:prstDash val="solid"/>
            <a:round/>
            <a:headEnd len="sm" w="sm" type="none"/>
            <a:tailEnd len="sm" w="sm" type="none"/>
          </a:ln>
          <a:effectLst>
            <a:outerShdw blurRad="508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7"/>
          <p:cNvSpPr/>
          <p:nvPr/>
        </p:nvSpPr>
        <p:spPr>
          <a:xfrm>
            <a:off x="658368" y="3474720"/>
            <a:ext cx="548640" cy="548640"/>
          </a:xfrm>
          <a:prstGeom prst="ellipse">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0" name="Google Shape;170;p7"/>
          <p:cNvPicPr preferRelativeResize="0"/>
          <p:nvPr/>
        </p:nvPicPr>
        <p:blipFill rotWithShape="1">
          <a:blip r:embed="rId3">
            <a:alphaModFix/>
          </a:blip>
          <a:srcRect b="0" l="0" r="0" t="0"/>
          <a:stretch/>
        </p:blipFill>
        <p:spPr>
          <a:xfrm>
            <a:off x="786384" y="3602736"/>
            <a:ext cx="292608" cy="292608"/>
          </a:xfrm>
          <a:prstGeom prst="rect">
            <a:avLst/>
          </a:prstGeom>
          <a:noFill/>
          <a:ln>
            <a:noFill/>
          </a:ln>
        </p:spPr>
      </p:pic>
      <p:sp>
        <p:nvSpPr>
          <p:cNvPr id="171" name="Google Shape;171;p7"/>
          <p:cNvSpPr txBox="1"/>
          <p:nvPr/>
        </p:nvSpPr>
        <p:spPr>
          <a:xfrm>
            <a:off x="1371600" y="342900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B1F"/>
              </a:buClr>
              <a:buSzPts val="1700"/>
              <a:buFont typeface="Calibri"/>
              <a:buNone/>
            </a:pPr>
            <a:r>
              <a:rPr b="1" i="0" lang="en-US" sz="1700" u="none" cap="none" strike="noStrike">
                <a:solidFill>
                  <a:srgbClr val="1B1B1F"/>
                </a:solidFill>
                <a:latin typeface="Calibri"/>
                <a:ea typeface="Calibri"/>
                <a:cs typeface="Calibri"/>
                <a:sym typeface="Calibri"/>
              </a:rPr>
              <a:t>#3  Low-usage listening</a:t>
            </a:r>
            <a:endParaRPr b="0" i="0" sz="1700" u="none" cap="none" strike="noStrike">
              <a:solidFill>
                <a:schemeClr val="dk1"/>
              </a:solidFill>
              <a:latin typeface="Calibri"/>
              <a:ea typeface="Calibri"/>
              <a:cs typeface="Calibri"/>
              <a:sym typeface="Calibri"/>
            </a:endParaRPr>
          </a:p>
        </p:txBody>
      </p:sp>
      <p:sp>
        <p:nvSpPr>
          <p:cNvPr id="172" name="Google Shape;172;p7"/>
          <p:cNvSpPr txBox="1"/>
          <p:nvPr/>
        </p:nvSpPr>
        <p:spPr>
          <a:xfrm>
            <a:off x="1371600" y="3767328"/>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322A"/>
              </a:buClr>
              <a:buSzPts val="1200"/>
              <a:buFont typeface="Courier New"/>
              <a:buNone/>
            </a:pPr>
            <a:r>
              <a:rPr b="0" i="0" lang="en-US" sz="1200" u="none" cap="none" strike="noStrike">
                <a:solidFill>
                  <a:srgbClr val="A8322A"/>
                </a:solidFill>
                <a:latin typeface="Courier New"/>
                <a:ea typeface="Courier New"/>
                <a:cs typeface="Courier New"/>
                <a:sym typeface="Courier New"/>
              </a:rPr>
              <a:t>Strong, mainly with #2</a:t>
            </a:r>
            <a:endParaRPr b="0" i="0" sz="1200" u="none" cap="none" strike="noStrike">
              <a:solidFill>
                <a:schemeClr val="dk1"/>
              </a:solidFill>
              <a:latin typeface="Calibri"/>
              <a:ea typeface="Calibri"/>
              <a:cs typeface="Calibri"/>
              <a:sym typeface="Calibri"/>
            </a:endParaRPr>
          </a:p>
        </p:txBody>
      </p:sp>
      <p:sp>
        <p:nvSpPr>
          <p:cNvPr id="173" name="Google Shape;173;p7"/>
          <p:cNvSpPr txBox="1"/>
          <p:nvPr/>
        </p:nvSpPr>
        <p:spPr>
          <a:xfrm>
            <a:off x="4206240" y="3401568"/>
            <a:ext cx="4297680" cy="6949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3A3A"/>
              </a:buClr>
              <a:buSzPts val="1400"/>
              <a:buFont typeface="Calibri"/>
              <a:buNone/>
            </a:pPr>
            <a:r>
              <a:rPr b="0" i="0" lang="en-US" sz="1400" u="none" cap="none" strike="noStrike">
                <a:solidFill>
                  <a:srgbClr val="3A3A3A"/>
                </a:solidFill>
                <a:latin typeface="Calibri"/>
                <a:ea typeface="Calibri"/>
                <a:cs typeface="Calibri"/>
                <a:sym typeface="Calibri"/>
              </a:rPr>
              <a:t>22.6% left, vs about 7.4% for other listeners. Together with #2: 51.7%</a:t>
            </a:r>
            <a:endParaRPr b="0" i="0" sz="1400" u="none" cap="none" strike="noStrike">
              <a:solidFill>
                <a:schemeClr val="dk1"/>
              </a:solidFill>
              <a:latin typeface="Calibri"/>
              <a:ea typeface="Calibri"/>
              <a:cs typeface="Calibri"/>
              <a:sym typeface="Calibri"/>
            </a:endParaRPr>
          </a:p>
        </p:txBody>
      </p:sp>
      <p:sp>
        <p:nvSpPr>
          <p:cNvPr id="174" name="Google Shape;174;p7"/>
          <p:cNvSpPr txBox="1"/>
          <p:nvPr>
            <p:ph idx="4294967295" type="sldNum"/>
          </p:nvPr>
        </p:nvSpPr>
        <p:spPr>
          <a:xfrm>
            <a:off x="8229600" y="4754880"/>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6B6B6B"/>
                </a:solidFill>
                <a:latin typeface="Courier New"/>
                <a:ea typeface="Courier New"/>
                <a:cs typeface="Courier New"/>
                <a:sym typeface="Courier New"/>
              </a:rPr>
              <a:t>‹#›</a:t>
            </a:fld>
            <a:endParaRPr b="0" i="0" sz="900" u="none" cap="none" strike="noStrike">
              <a:solidFill>
                <a:srgbClr val="6B6B6B"/>
              </a:solidFill>
              <a:latin typeface="Courier New"/>
              <a:ea typeface="Courier New"/>
              <a:cs typeface="Courier New"/>
              <a:sym typeface="Courier New"/>
            </a:endParaRPr>
          </a:p>
        </p:txBody>
      </p:sp>
      <p:sp>
        <p:nvSpPr>
          <p:cNvPr id="175" name="Google Shape;175;p7"/>
          <p:cNvSpPr txBox="1"/>
          <p:nvPr/>
        </p:nvSpPr>
        <p:spPr>
          <a:xfrm>
            <a:off x="457200" y="4297680"/>
            <a:ext cx="82296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3A3A"/>
              </a:buClr>
              <a:buSzPts val="1050"/>
              <a:buFont typeface="Calibri"/>
              <a:buNone/>
            </a:pPr>
            <a:r>
              <a:rPr b="1" i="0" lang="en-US" sz="1050" u="none" cap="none" strike="noStrike">
                <a:solidFill>
                  <a:srgbClr val="3A3A3A"/>
                </a:solidFill>
                <a:latin typeface="Calibri"/>
                <a:ea typeface="Calibri"/>
                <a:cs typeface="Calibri"/>
                <a:sym typeface="Calibri"/>
              </a:rPr>
              <a:t>Our test of cause:  </a:t>
            </a:r>
            <a:r>
              <a:rPr b="0" i="0" lang="en-US" sz="1050" u="none" cap="none" strike="noStrike">
                <a:solidFill>
                  <a:srgbClr val="3A3A3A"/>
                </a:solidFill>
                <a:latin typeface="Calibri"/>
                <a:ea typeface="Calibri"/>
                <a:cs typeface="Calibri"/>
                <a:sym typeface="Calibri"/>
              </a:rPr>
              <a:t>a simple model ranked these same factors on top. They show who is at risk, not proof of why. The 30-day test proves cause.</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8"/>
          <p:cNvSpPr/>
          <p:nvPr/>
        </p:nvSpPr>
        <p:spPr>
          <a:xfrm>
            <a:off x="457200" y="201168"/>
            <a:ext cx="1737360" cy="256032"/>
          </a:xfrm>
          <a:prstGeom prst="roundRect">
            <a:avLst>
              <a:gd fmla="val 17857" name="adj"/>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8"/>
          <p:cNvSpPr txBox="1"/>
          <p:nvPr/>
        </p:nvSpPr>
        <p:spPr>
          <a:xfrm>
            <a:off x="457200" y="201168"/>
            <a:ext cx="17373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000"/>
              <a:buFont typeface="Courier New"/>
              <a:buNone/>
            </a:pPr>
            <a:r>
              <a:rPr b="1" i="0" lang="en-US" sz="1000" u="none" cap="none" strike="noStrike">
                <a:solidFill>
                  <a:schemeClr val="lt1"/>
                </a:solidFill>
                <a:latin typeface="Courier New"/>
                <a:ea typeface="Courier New"/>
                <a:cs typeface="Courier New"/>
                <a:sym typeface="Courier New"/>
              </a:rPr>
              <a:t>FALSE LEADS</a:t>
            </a:r>
            <a:endParaRPr b="0" i="0" sz="1000" u="none" cap="none" strike="noStrike">
              <a:solidFill>
                <a:schemeClr val="dk1"/>
              </a:solidFill>
              <a:latin typeface="Calibri"/>
              <a:ea typeface="Calibri"/>
              <a:cs typeface="Calibri"/>
              <a:sym typeface="Calibri"/>
            </a:endParaRPr>
          </a:p>
        </p:txBody>
      </p:sp>
      <p:sp>
        <p:nvSpPr>
          <p:cNvPr id="183" name="Google Shape;183;p8"/>
          <p:cNvSpPr txBox="1"/>
          <p:nvPr>
            <p:ph type="title"/>
          </p:nvPr>
        </p:nvSpPr>
        <p:spPr>
          <a:xfrm>
            <a:off x="457200" y="502920"/>
            <a:ext cx="8229600" cy="6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2800"/>
              <a:buFont typeface="Bookman Old Style"/>
              <a:buNone/>
            </a:pPr>
            <a:r>
              <a:rPr b="1" lang="en-US" sz="2800">
                <a:solidFill>
                  <a:schemeClr val="dk2"/>
                </a:solidFill>
                <a:latin typeface="Bookman Old Style"/>
                <a:ea typeface="Bookman Old Style"/>
                <a:cs typeface="Bookman Old Style"/>
                <a:sym typeface="Bookman Old Style"/>
              </a:rPr>
              <a:t>The usual suspects are innocent</a:t>
            </a:r>
            <a:endParaRPr sz="2800"/>
          </a:p>
        </p:txBody>
      </p:sp>
      <p:sp>
        <p:nvSpPr>
          <p:cNvPr id="184" name="Google Shape;184;p8"/>
          <p:cNvSpPr/>
          <p:nvPr/>
        </p:nvSpPr>
        <p:spPr>
          <a:xfrm rot="-480000">
            <a:off x="6949440" y="411480"/>
            <a:ext cx="1645920" cy="502920"/>
          </a:xfrm>
          <a:prstGeom prst="rect">
            <a:avLst/>
          </a:prstGeom>
          <a:solidFill>
            <a:srgbClr val="FFFFFF">
              <a:alpha val="0"/>
            </a:srgbClr>
          </a:solidFill>
          <a:ln cap="flat" cmpd="sng" w="31750">
            <a:solidFill>
              <a:srgbClr val="0B0D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8"/>
          <p:cNvSpPr txBox="1"/>
          <p:nvPr/>
        </p:nvSpPr>
        <p:spPr>
          <a:xfrm rot="-480000">
            <a:off x="6949440" y="411480"/>
            <a:ext cx="1645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0D3A"/>
              </a:buClr>
              <a:buSzPts val="1800"/>
              <a:buFont typeface="Courier New"/>
              <a:buNone/>
            </a:pPr>
            <a:r>
              <a:rPr b="1" i="0" lang="en-US" sz="1800" u="none" cap="none" strike="noStrike">
                <a:solidFill>
                  <a:srgbClr val="0B0D3A"/>
                </a:solidFill>
                <a:latin typeface="Courier New"/>
                <a:ea typeface="Courier New"/>
                <a:cs typeface="Courier New"/>
                <a:sym typeface="Courier New"/>
              </a:rPr>
              <a:t>CLEARED</a:t>
            </a:r>
            <a:endParaRPr b="0" i="0" sz="1800" u="none" cap="none" strike="noStrike">
              <a:solidFill>
                <a:schemeClr val="dk1"/>
              </a:solidFill>
              <a:latin typeface="Calibri"/>
              <a:ea typeface="Calibri"/>
              <a:cs typeface="Calibri"/>
              <a:sym typeface="Calibri"/>
            </a:endParaRPr>
          </a:p>
        </p:txBody>
      </p:sp>
      <p:sp>
        <p:nvSpPr>
          <p:cNvPr id="186" name="Google Shape;186;p8"/>
          <p:cNvSpPr/>
          <p:nvPr/>
        </p:nvSpPr>
        <p:spPr>
          <a:xfrm>
            <a:off x="548640" y="1097280"/>
            <a:ext cx="1234440" cy="384048"/>
          </a:xfrm>
          <a:prstGeom prst="roundRect">
            <a:avLst>
              <a:gd fmla="val 14286" name="adj"/>
            </a:avLst>
          </a:prstGeom>
          <a:solidFill>
            <a:schemeClr val="dk2"/>
          </a:solidFill>
          <a:ln cap="flat" cmpd="sng" w="127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8"/>
          <p:cNvSpPr txBox="1"/>
          <p:nvPr/>
        </p:nvSpPr>
        <p:spPr>
          <a:xfrm>
            <a:off x="548640" y="1097280"/>
            <a:ext cx="12344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000"/>
              <a:buFont typeface="Courier New"/>
              <a:buNone/>
            </a:pPr>
            <a:r>
              <a:rPr b="1" i="0" lang="en-US" sz="1000" u="none" cap="none" strike="noStrike">
                <a:solidFill>
                  <a:schemeClr val="lt1"/>
                </a:solidFill>
                <a:latin typeface="Courier New"/>
                <a:ea typeface="Courier New"/>
                <a:cs typeface="Courier New"/>
                <a:sym typeface="Courier New"/>
              </a:rPr>
              <a:t>EXHIBIT D</a:t>
            </a:r>
            <a:endParaRPr b="0" i="0" sz="1000" u="none" cap="none" strike="noStrike">
              <a:solidFill>
                <a:schemeClr val="dk1"/>
              </a:solidFill>
              <a:latin typeface="Calibri"/>
              <a:ea typeface="Calibri"/>
              <a:cs typeface="Calibri"/>
              <a:sym typeface="Calibri"/>
            </a:endParaRPr>
          </a:p>
        </p:txBody>
      </p:sp>
      <p:sp>
        <p:nvSpPr>
          <p:cNvPr id="188" name="Google Shape;188;p8"/>
          <p:cNvSpPr/>
          <p:nvPr/>
        </p:nvSpPr>
        <p:spPr>
          <a:xfrm>
            <a:off x="457200" y="1371600"/>
            <a:ext cx="5120640" cy="3200400"/>
          </a:xfrm>
          <a:prstGeom prst="rect">
            <a:avLst/>
          </a:prstGeom>
          <a:solidFill>
            <a:srgbClr val="FFFFFF"/>
          </a:solidFill>
          <a:ln cap="flat" cmpd="sng" w="9525">
            <a:solidFill>
              <a:srgbClr val="D9D9D6"/>
            </a:solidFill>
            <a:prstDash val="solid"/>
            <a:round/>
            <a:headEnd len="sm" w="sm" type="none"/>
            <a:tailEnd len="sm" w="sm" type="none"/>
          </a:ln>
          <a:effectLst>
            <a:outerShdw blurRad="508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189" name="Google Shape;189;p8"/>
          <p:cNvGraphicFramePr/>
          <p:nvPr/>
        </p:nvGraphicFramePr>
        <p:xfrm>
          <a:off x="594360" y="1463040"/>
          <a:ext cx="4846320" cy="3017520"/>
        </p:xfrm>
        <a:graphic>
          <a:graphicData uri="http://schemas.openxmlformats.org/drawingml/2006/chart">
            <c:chart r:id="rId3"/>
          </a:graphicData>
        </a:graphic>
      </p:graphicFrame>
      <p:sp>
        <p:nvSpPr>
          <p:cNvPr id="190" name="Google Shape;190;p8"/>
          <p:cNvSpPr txBox="1"/>
          <p:nvPr/>
        </p:nvSpPr>
        <p:spPr>
          <a:xfrm>
            <a:off x="5943600" y="1371600"/>
            <a:ext cx="2743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D3A"/>
              </a:buClr>
              <a:buSzPts val="1400"/>
              <a:buFont typeface="Calibri"/>
              <a:buNone/>
            </a:pPr>
            <a:r>
              <a:rPr b="1" i="0" lang="en-US" sz="1400" u="none" cap="none" strike="noStrike">
                <a:solidFill>
                  <a:srgbClr val="0B0D3A"/>
                </a:solidFill>
                <a:latin typeface="Calibri"/>
                <a:ea typeface="Calibri"/>
                <a:cs typeface="Calibri"/>
                <a:sym typeface="Calibri"/>
              </a:rPr>
              <a:t>✗  Playback complaints</a:t>
            </a:r>
            <a:endParaRPr b="0" i="0" sz="1500" u="none" cap="none" strike="noStrike">
              <a:solidFill>
                <a:schemeClr val="dk1"/>
              </a:solidFill>
              <a:latin typeface="Calibri"/>
              <a:ea typeface="Calibri"/>
              <a:cs typeface="Calibri"/>
              <a:sym typeface="Calibri"/>
            </a:endParaRPr>
          </a:p>
        </p:txBody>
      </p:sp>
      <p:sp>
        <p:nvSpPr>
          <p:cNvPr id="191" name="Google Shape;191;p8"/>
          <p:cNvSpPr txBox="1"/>
          <p:nvPr/>
        </p:nvSpPr>
        <p:spPr>
          <a:xfrm>
            <a:off x="5943600" y="1655064"/>
            <a:ext cx="2743200"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A3A3A"/>
              </a:buClr>
              <a:buSzPts val="1250"/>
              <a:buFont typeface="Calibri"/>
              <a:buNone/>
            </a:pPr>
            <a:r>
              <a:rPr b="0" i="0" lang="en-US" sz="1250" u="none" cap="none" strike="noStrike">
                <a:solidFill>
                  <a:srgbClr val="3A3A3A"/>
                </a:solidFill>
                <a:latin typeface="Calibri"/>
                <a:ea typeface="Calibri"/>
                <a:cs typeface="Calibri"/>
                <a:sym typeface="Calibri"/>
              </a:rPr>
              <a:t>4.9% left, below the 9.7% average</a:t>
            </a:r>
            <a:endParaRPr b="0" i="0" sz="1400" u="none" cap="none" strike="noStrike">
              <a:solidFill>
                <a:schemeClr val="dk1"/>
              </a:solidFill>
              <a:latin typeface="Calibri"/>
              <a:ea typeface="Calibri"/>
              <a:cs typeface="Calibri"/>
              <a:sym typeface="Calibri"/>
            </a:endParaRPr>
          </a:p>
        </p:txBody>
      </p:sp>
      <p:sp>
        <p:nvSpPr>
          <p:cNvPr id="192" name="Google Shape;192;p8"/>
          <p:cNvSpPr txBox="1"/>
          <p:nvPr/>
        </p:nvSpPr>
        <p:spPr>
          <a:xfrm>
            <a:off x="5943600" y="2167128"/>
            <a:ext cx="2743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D3A"/>
              </a:buClr>
              <a:buSzPts val="1400"/>
              <a:buFont typeface="Calibri"/>
              <a:buNone/>
            </a:pPr>
            <a:r>
              <a:rPr b="1" i="0" lang="en-US" sz="1400" u="none" cap="none" strike="noStrike">
                <a:solidFill>
                  <a:srgbClr val="0B0D3A"/>
                </a:solidFill>
                <a:latin typeface="Calibri"/>
                <a:ea typeface="Calibri"/>
                <a:cs typeface="Calibri"/>
                <a:sym typeface="Calibri"/>
              </a:rPr>
              <a:t>✗  Lots of tickets</a:t>
            </a:r>
            <a:endParaRPr b="0" i="0" sz="1500" u="none" cap="none" strike="noStrike">
              <a:solidFill>
                <a:schemeClr val="dk1"/>
              </a:solidFill>
              <a:latin typeface="Calibri"/>
              <a:ea typeface="Calibri"/>
              <a:cs typeface="Calibri"/>
              <a:sym typeface="Calibri"/>
            </a:endParaRPr>
          </a:p>
        </p:txBody>
      </p:sp>
      <p:sp>
        <p:nvSpPr>
          <p:cNvPr id="193" name="Google Shape;193;p8"/>
          <p:cNvSpPr txBox="1"/>
          <p:nvPr/>
        </p:nvSpPr>
        <p:spPr>
          <a:xfrm>
            <a:off x="5943600" y="2450592"/>
            <a:ext cx="2743200"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A3A3A"/>
              </a:buClr>
              <a:buSzPts val="1250"/>
              <a:buFont typeface="Calibri"/>
              <a:buNone/>
            </a:pPr>
            <a:r>
              <a:rPr b="0" i="0" lang="en-US" sz="1250" u="none" cap="none" strike="noStrike">
                <a:solidFill>
                  <a:srgbClr val="3A3A3A"/>
                </a:solidFill>
                <a:latin typeface="Calibri"/>
                <a:ea typeface="Calibri"/>
                <a:cs typeface="Calibri"/>
                <a:sym typeface="Calibri"/>
              </a:rPr>
              <a:t>2+ tickets on non-billing topics: only 6.1% left</a:t>
            </a:r>
            <a:endParaRPr b="0" i="0" sz="1400" u="none" cap="none" strike="noStrike">
              <a:solidFill>
                <a:schemeClr val="dk1"/>
              </a:solidFill>
              <a:latin typeface="Calibri"/>
              <a:ea typeface="Calibri"/>
              <a:cs typeface="Calibri"/>
              <a:sym typeface="Calibri"/>
            </a:endParaRPr>
          </a:p>
        </p:txBody>
      </p:sp>
      <p:sp>
        <p:nvSpPr>
          <p:cNvPr id="194" name="Google Shape;194;p8"/>
          <p:cNvSpPr txBox="1"/>
          <p:nvPr/>
        </p:nvSpPr>
        <p:spPr>
          <a:xfrm>
            <a:off x="5943600" y="2962656"/>
            <a:ext cx="2743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D3A"/>
              </a:buClr>
              <a:buSzPts val="1400"/>
              <a:buFont typeface="Calibri"/>
              <a:buNone/>
            </a:pPr>
            <a:r>
              <a:rPr b="1" i="0" lang="en-US" sz="1400" u="none" cap="none" strike="noStrike">
                <a:solidFill>
                  <a:srgbClr val="0B0D3A"/>
                </a:solidFill>
                <a:latin typeface="Calibri"/>
                <a:ea typeface="Calibri"/>
                <a:cs typeface="Calibri"/>
                <a:sym typeface="Calibri"/>
              </a:rPr>
              <a:t>✗  Premium plan</a:t>
            </a:r>
            <a:endParaRPr b="0" i="0" sz="1500" u="none" cap="none" strike="noStrike">
              <a:solidFill>
                <a:schemeClr val="dk1"/>
              </a:solidFill>
              <a:latin typeface="Calibri"/>
              <a:ea typeface="Calibri"/>
              <a:cs typeface="Calibri"/>
              <a:sym typeface="Calibri"/>
            </a:endParaRPr>
          </a:p>
        </p:txBody>
      </p:sp>
      <p:sp>
        <p:nvSpPr>
          <p:cNvPr id="195" name="Google Shape;195;p8"/>
          <p:cNvSpPr txBox="1"/>
          <p:nvPr/>
        </p:nvSpPr>
        <p:spPr>
          <a:xfrm>
            <a:off x="5943600" y="3246120"/>
            <a:ext cx="2743200"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A3A3A"/>
              </a:buClr>
              <a:buSzPts val="1250"/>
              <a:buFont typeface="Calibri"/>
              <a:buNone/>
            </a:pPr>
            <a:r>
              <a:rPr b="0" i="0" lang="en-US" sz="1250" u="none" cap="none" strike="noStrike">
                <a:solidFill>
                  <a:srgbClr val="3A3A3A"/>
                </a:solidFill>
                <a:latin typeface="Calibri"/>
                <a:ea typeface="Calibri"/>
                <a:cs typeface="Calibri"/>
                <a:sym typeface="Calibri"/>
              </a:rPr>
              <a:t>13.2% left overall, but just 3.1% outside the two risky groups</a:t>
            </a:r>
            <a:endParaRPr b="0" i="0" sz="1400" u="none" cap="none" strike="noStrike">
              <a:solidFill>
                <a:schemeClr val="dk1"/>
              </a:solidFill>
              <a:latin typeface="Calibri"/>
              <a:ea typeface="Calibri"/>
              <a:cs typeface="Calibri"/>
              <a:sym typeface="Calibri"/>
            </a:endParaRPr>
          </a:p>
        </p:txBody>
      </p:sp>
      <p:sp>
        <p:nvSpPr>
          <p:cNvPr id="196" name="Google Shape;196;p8"/>
          <p:cNvSpPr txBox="1"/>
          <p:nvPr>
            <p:ph idx="4294967295" type="sldNum"/>
          </p:nvPr>
        </p:nvSpPr>
        <p:spPr>
          <a:xfrm>
            <a:off x="8229600" y="4754880"/>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6B6B6B"/>
                </a:solidFill>
                <a:latin typeface="Courier New"/>
                <a:ea typeface="Courier New"/>
                <a:cs typeface="Courier New"/>
                <a:sym typeface="Courier New"/>
              </a:rPr>
              <a:t>‹#›</a:t>
            </a:fld>
            <a:endParaRPr b="0" i="0" sz="900" u="none" cap="none" strike="noStrike">
              <a:solidFill>
                <a:srgbClr val="6B6B6B"/>
              </a:solidFill>
              <a:latin typeface="Courier New"/>
              <a:ea typeface="Courier New"/>
              <a:cs typeface="Courier New"/>
              <a:sym typeface="Courier New"/>
            </a:endParaRPr>
          </a:p>
        </p:txBody>
      </p:sp>
      <p:sp>
        <p:nvSpPr>
          <p:cNvPr id="197" name="Google Shape;197;p8"/>
          <p:cNvSpPr txBox="1"/>
          <p:nvPr/>
        </p:nvSpPr>
        <p:spPr>
          <a:xfrm>
            <a:off x="5943600" y="3758183"/>
            <a:ext cx="2743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D3A"/>
              </a:buClr>
              <a:buSzPts val="1400"/>
              <a:buFont typeface="Calibri"/>
              <a:buNone/>
            </a:pPr>
            <a:r>
              <a:rPr b="1" i="0" lang="en-US" sz="1400" u="none" cap="none" strike="noStrike">
                <a:solidFill>
                  <a:srgbClr val="0B0D3A"/>
                </a:solidFill>
                <a:latin typeface="Calibri"/>
                <a:ea typeface="Calibri"/>
                <a:cs typeface="Calibri"/>
                <a:sym typeface="Calibri"/>
              </a:rPr>
              <a:t>✗  Hours, payment, age, tenure</a:t>
            </a:r>
            <a:endParaRPr b="0" i="0" sz="1500" u="none" cap="none" strike="noStrike">
              <a:solidFill>
                <a:schemeClr val="dk1"/>
              </a:solidFill>
              <a:latin typeface="Calibri"/>
              <a:ea typeface="Calibri"/>
              <a:cs typeface="Calibri"/>
              <a:sym typeface="Calibri"/>
            </a:endParaRPr>
          </a:p>
        </p:txBody>
      </p:sp>
      <p:sp>
        <p:nvSpPr>
          <p:cNvPr id="198" name="Google Shape;198;p8"/>
          <p:cNvSpPr txBox="1"/>
          <p:nvPr/>
        </p:nvSpPr>
        <p:spPr>
          <a:xfrm>
            <a:off x="5943600" y="4041647"/>
            <a:ext cx="2743200"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A3A3A"/>
              </a:buClr>
              <a:buSzPts val="1250"/>
              <a:buFont typeface="Calibri"/>
              <a:buNone/>
            </a:pPr>
            <a:r>
              <a:rPr b="0" i="0" lang="en-US" sz="1250" u="none" cap="none" strike="noStrike">
                <a:solidFill>
                  <a:srgbClr val="3A3A3A"/>
                </a:solidFill>
                <a:latin typeface="Calibri"/>
                <a:ea typeface="Calibri"/>
                <a:cs typeface="Calibri"/>
                <a:sym typeface="Calibri"/>
              </a:rPr>
              <a:t>All within 2 points of the 9.7% average</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9"/>
          <p:cNvSpPr/>
          <p:nvPr/>
        </p:nvSpPr>
        <p:spPr>
          <a:xfrm>
            <a:off x="457200" y="201168"/>
            <a:ext cx="1737360" cy="256032"/>
          </a:xfrm>
          <a:prstGeom prst="roundRect">
            <a:avLst>
              <a:gd fmla="val 17857" name="adj"/>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9"/>
          <p:cNvSpPr txBox="1"/>
          <p:nvPr/>
        </p:nvSpPr>
        <p:spPr>
          <a:xfrm>
            <a:off x="457200" y="201168"/>
            <a:ext cx="17373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000"/>
              <a:buFont typeface="Courier New"/>
              <a:buNone/>
            </a:pPr>
            <a:r>
              <a:rPr b="1" i="0" lang="en-US" sz="1000" u="none" cap="none" strike="noStrike">
                <a:solidFill>
                  <a:schemeClr val="lt1"/>
                </a:solidFill>
                <a:latin typeface="Courier New"/>
                <a:ea typeface="Courier New"/>
                <a:cs typeface="Courier New"/>
                <a:sym typeface="Courier New"/>
              </a:rPr>
              <a:t>THE FIX</a:t>
            </a:r>
            <a:endParaRPr b="0" i="0" sz="1000" u="none" cap="none" strike="noStrike">
              <a:solidFill>
                <a:schemeClr val="dk1"/>
              </a:solidFill>
              <a:latin typeface="Calibri"/>
              <a:ea typeface="Calibri"/>
              <a:cs typeface="Calibri"/>
              <a:sym typeface="Calibri"/>
            </a:endParaRPr>
          </a:p>
        </p:txBody>
      </p:sp>
      <p:sp>
        <p:nvSpPr>
          <p:cNvPr id="206" name="Google Shape;206;p9"/>
          <p:cNvSpPr txBox="1"/>
          <p:nvPr>
            <p:ph type="title"/>
          </p:nvPr>
        </p:nvSpPr>
        <p:spPr>
          <a:xfrm>
            <a:off x="457200" y="502920"/>
            <a:ext cx="8229600" cy="6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2800"/>
              <a:buFont typeface="Bookman Old Style"/>
              <a:buNone/>
            </a:pPr>
            <a:r>
              <a:rPr b="1" lang="en-US" sz="2800">
                <a:solidFill>
                  <a:schemeClr val="dk2"/>
                </a:solidFill>
                <a:latin typeface="Bookman Old Style"/>
                <a:ea typeface="Bookman Old Style"/>
                <a:cs typeface="Bookman Old Style"/>
                <a:sym typeface="Bookman Old Style"/>
              </a:rPr>
              <a:t>Fix it at the second billing ticket</a:t>
            </a:r>
            <a:endParaRPr sz="2800"/>
          </a:p>
        </p:txBody>
      </p:sp>
      <p:sp>
        <p:nvSpPr>
          <p:cNvPr id="207" name="Google Shape;207;p9"/>
          <p:cNvSpPr/>
          <p:nvPr/>
        </p:nvSpPr>
        <p:spPr>
          <a:xfrm>
            <a:off x="457200" y="1572768"/>
            <a:ext cx="8229600" cy="731520"/>
          </a:xfrm>
          <a:prstGeom prst="rect">
            <a:avLst/>
          </a:prstGeom>
          <a:solidFill>
            <a:srgbClr val="FFFFFF"/>
          </a:solidFill>
          <a:ln cap="flat" cmpd="sng" w="9525">
            <a:solidFill>
              <a:srgbClr val="D9D9D6"/>
            </a:solidFill>
            <a:prstDash val="solid"/>
            <a:round/>
            <a:headEnd len="sm" w="sm" type="none"/>
            <a:tailEnd len="sm" w="sm" type="none"/>
          </a:ln>
          <a:effectLst>
            <a:outerShdw blurRad="508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9"/>
          <p:cNvSpPr/>
          <p:nvPr/>
        </p:nvSpPr>
        <p:spPr>
          <a:xfrm>
            <a:off x="4471416" y="1472184"/>
            <a:ext cx="201168" cy="201168"/>
          </a:xfrm>
          <a:prstGeom prst="ellipse">
            <a:avLst/>
          </a:prstGeom>
          <a:solidFill>
            <a:schemeClr val="accent1"/>
          </a:solidFill>
          <a:ln cap="flat" cmpd="sng" w="12700">
            <a:solidFill>
              <a:srgbClr val="7A231D"/>
            </a:solidFill>
            <a:prstDash val="solid"/>
            <a:round/>
            <a:headEnd len="sm" w="sm" type="none"/>
            <a:tailEnd len="sm" w="sm" type="none"/>
          </a:ln>
          <a:effectLst>
            <a:outerShdw blurRad="38100" rotWithShape="0" algn="bl" dir="5400000" dist="254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9"/>
          <p:cNvSpPr txBox="1"/>
          <p:nvPr/>
        </p:nvSpPr>
        <p:spPr>
          <a:xfrm>
            <a:off x="685800" y="1609344"/>
            <a:ext cx="777240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B1F"/>
              </a:buClr>
              <a:buSzPts val="1600"/>
              <a:buFont typeface="Calibri"/>
              <a:buNone/>
            </a:pPr>
            <a:r>
              <a:rPr b="0" i="1" lang="en-US" sz="1600" u="none" cap="none" strike="noStrike">
                <a:solidFill>
                  <a:srgbClr val="1B1B1F"/>
                </a:solidFill>
                <a:latin typeface="Calibri"/>
                <a:ea typeface="Calibri"/>
                <a:cs typeface="Calibri"/>
                <a:sym typeface="Calibri"/>
              </a:rPr>
              <a:t>The moment a customer opens a 2nd billing ticket: route them to a billing specialist, fix it on that contact, and give a one-month credit.</a:t>
            </a:r>
            <a:endParaRPr b="0" i="0" sz="1600" u="none" cap="none" strike="noStrike">
              <a:solidFill>
                <a:schemeClr val="dk1"/>
              </a:solidFill>
              <a:latin typeface="Calibri"/>
              <a:ea typeface="Calibri"/>
              <a:cs typeface="Calibri"/>
              <a:sym typeface="Calibri"/>
            </a:endParaRPr>
          </a:p>
        </p:txBody>
      </p:sp>
      <p:sp>
        <p:nvSpPr>
          <p:cNvPr id="210" name="Google Shape;210;p9"/>
          <p:cNvSpPr/>
          <p:nvPr/>
        </p:nvSpPr>
        <p:spPr>
          <a:xfrm>
            <a:off x="457200" y="2487168"/>
            <a:ext cx="2560320" cy="2057400"/>
          </a:xfrm>
          <a:prstGeom prst="rect">
            <a:avLst/>
          </a:prstGeom>
          <a:solidFill>
            <a:srgbClr val="FFFFFF"/>
          </a:solidFill>
          <a:ln cap="flat" cmpd="sng" w="9525">
            <a:solidFill>
              <a:srgbClr val="D9D9D6"/>
            </a:solidFill>
            <a:prstDash val="solid"/>
            <a:round/>
            <a:headEnd len="sm" w="sm" type="none"/>
            <a:tailEnd len="sm" w="sm" type="none"/>
          </a:ln>
          <a:effectLst>
            <a:outerShdw blurRad="508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9"/>
          <p:cNvSpPr txBox="1"/>
          <p:nvPr/>
        </p:nvSpPr>
        <p:spPr>
          <a:xfrm>
            <a:off x="685800" y="2596896"/>
            <a:ext cx="2103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322A"/>
              </a:buClr>
              <a:buSzPts val="1200"/>
              <a:buFont typeface="Courier New"/>
              <a:buNone/>
            </a:pPr>
            <a:r>
              <a:rPr b="1" i="0" lang="en-US" sz="1200" u="none" cap="none" strike="noStrike">
                <a:solidFill>
                  <a:srgbClr val="A8322A"/>
                </a:solidFill>
                <a:latin typeface="Courier New"/>
                <a:ea typeface="Courier New"/>
                <a:cs typeface="Courier New"/>
                <a:sym typeface="Courier New"/>
              </a:rPr>
              <a:t>WHO</a:t>
            </a:r>
            <a:endParaRPr b="0" i="0" sz="1200" u="none" cap="none" strike="noStrike">
              <a:solidFill>
                <a:schemeClr val="dk1"/>
              </a:solidFill>
              <a:latin typeface="Calibri"/>
              <a:ea typeface="Calibri"/>
              <a:cs typeface="Calibri"/>
              <a:sym typeface="Calibri"/>
            </a:endParaRPr>
          </a:p>
        </p:txBody>
      </p:sp>
      <p:sp>
        <p:nvSpPr>
          <p:cNvPr id="212" name="Google Shape;212;p9"/>
          <p:cNvSpPr txBox="1"/>
          <p:nvPr/>
        </p:nvSpPr>
        <p:spPr>
          <a:xfrm>
            <a:off x="685800" y="2852928"/>
            <a:ext cx="21031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D3A"/>
              </a:buClr>
              <a:buSzPts val="3000"/>
              <a:buFont typeface="Bookman Old Style"/>
              <a:buNone/>
            </a:pPr>
            <a:r>
              <a:rPr b="1" i="0" lang="en-US" sz="3000" u="none" cap="none" strike="noStrike">
                <a:solidFill>
                  <a:srgbClr val="0B0D3A"/>
                </a:solidFill>
                <a:latin typeface="Bookman Old Style"/>
                <a:ea typeface="Bookman Old Style"/>
                <a:cs typeface="Bookman Old Style"/>
                <a:sym typeface="Bookman Old Style"/>
              </a:rPr>
              <a:t>297</a:t>
            </a:r>
            <a:endParaRPr b="0" i="0" sz="3000" u="none" cap="none" strike="noStrike">
              <a:solidFill>
                <a:schemeClr val="dk1"/>
              </a:solidFill>
              <a:latin typeface="Calibri"/>
              <a:ea typeface="Calibri"/>
              <a:cs typeface="Calibri"/>
              <a:sym typeface="Calibri"/>
            </a:endParaRPr>
          </a:p>
        </p:txBody>
      </p:sp>
      <p:sp>
        <p:nvSpPr>
          <p:cNvPr id="213" name="Google Shape;213;p9"/>
          <p:cNvSpPr txBox="1"/>
          <p:nvPr/>
        </p:nvSpPr>
        <p:spPr>
          <a:xfrm>
            <a:off x="685800" y="3456432"/>
            <a:ext cx="2148840" cy="10241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A3A3A"/>
              </a:buClr>
              <a:buSzPts val="1300"/>
              <a:buFont typeface="Calibri"/>
              <a:buNone/>
            </a:pPr>
            <a:r>
              <a:rPr b="0" i="0" lang="en-US" sz="1300" u="none" cap="none" strike="noStrike">
                <a:solidFill>
                  <a:srgbClr val="3A3A3A"/>
                </a:solidFill>
                <a:latin typeface="Calibri"/>
                <a:ea typeface="Calibri"/>
                <a:cs typeface="Calibri"/>
                <a:sym typeface="Calibri"/>
              </a:rPr>
              <a:t>customers in this group who haven't left yet. One daily query flags new ones.</a:t>
            </a:r>
            <a:endParaRPr b="0" i="0" sz="1300" u="none" cap="none" strike="noStrike">
              <a:solidFill>
                <a:schemeClr val="dk1"/>
              </a:solidFill>
              <a:latin typeface="Calibri"/>
              <a:ea typeface="Calibri"/>
              <a:cs typeface="Calibri"/>
              <a:sym typeface="Calibri"/>
            </a:endParaRPr>
          </a:p>
        </p:txBody>
      </p:sp>
      <p:sp>
        <p:nvSpPr>
          <p:cNvPr id="214" name="Google Shape;214;p9"/>
          <p:cNvSpPr/>
          <p:nvPr/>
        </p:nvSpPr>
        <p:spPr>
          <a:xfrm>
            <a:off x="3291840" y="2487168"/>
            <a:ext cx="2560320" cy="2057400"/>
          </a:xfrm>
          <a:prstGeom prst="rect">
            <a:avLst/>
          </a:prstGeom>
          <a:solidFill>
            <a:srgbClr val="FFFFFF"/>
          </a:solidFill>
          <a:ln cap="flat" cmpd="sng" w="9525">
            <a:solidFill>
              <a:srgbClr val="D9D9D6"/>
            </a:solidFill>
            <a:prstDash val="solid"/>
            <a:round/>
            <a:headEnd len="sm" w="sm" type="none"/>
            <a:tailEnd len="sm" w="sm" type="none"/>
          </a:ln>
          <a:effectLst>
            <a:outerShdw blurRad="508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9"/>
          <p:cNvSpPr txBox="1"/>
          <p:nvPr/>
        </p:nvSpPr>
        <p:spPr>
          <a:xfrm>
            <a:off x="3520440" y="2596896"/>
            <a:ext cx="2103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322A"/>
              </a:buClr>
              <a:buSzPts val="1200"/>
              <a:buFont typeface="Courier New"/>
              <a:buNone/>
            </a:pPr>
            <a:r>
              <a:rPr b="1" i="0" lang="en-US" sz="1200" u="none" cap="none" strike="noStrike">
                <a:solidFill>
                  <a:srgbClr val="A8322A"/>
                </a:solidFill>
                <a:latin typeface="Courier New"/>
                <a:ea typeface="Courier New"/>
                <a:cs typeface="Courier New"/>
                <a:sym typeface="Courier New"/>
              </a:rPr>
              <a:t>WHY THIS GROUP FIRST</a:t>
            </a:r>
            <a:endParaRPr b="0" i="0" sz="1200" u="none" cap="none" strike="noStrike">
              <a:solidFill>
                <a:schemeClr val="dk1"/>
              </a:solidFill>
              <a:latin typeface="Calibri"/>
              <a:ea typeface="Calibri"/>
              <a:cs typeface="Calibri"/>
              <a:sym typeface="Calibri"/>
            </a:endParaRPr>
          </a:p>
        </p:txBody>
      </p:sp>
      <p:sp>
        <p:nvSpPr>
          <p:cNvPr id="216" name="Google Shape;216;p9"/>
          <p:cNvSpPr txBox="1"/>
          <p:nvPr/>
        </p:nvSpPr>
        <p:spPr>
          <a:xfrm>
            <a:off x="3520440" y="2852928"/>
            <a:ext cx="21031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D3A"/>
              </a:buClr>
              <a:buSzPts val="3000"/>
              <a:buFont typeface="Bookman Old Style"/>
              <a:buNone/>
            </a:pPr>
            <a:r>
              <a:rPr b="1" i="0" lang="en-US" sz="3000" u="none" cap="none" strike="noStrike">
                <a:solidFill>
                  <a:srgbClr val="0B0D3A"/>
                </a:solidFill>
                <a:latin typeface="Bookman Old Style"/>
                <a:ea typeface="Bookman Old Style"/>
                <a:cs typeface="Bookman Old Style"/>
                <a:sym typeface="Bookman Old Style"/>
              </a:rPr>
              <a:t>47%</a:t>
            </a:r>
            <a:endParaRPr b="0" i="0" sz="3000" u="none" cap="none" strike="noStrike">
              <a:solidFill>
                <a:schemeClr val="dk1"/>
              </a:solidFill>
              <a:latin typeface="Calibri"/>
              <a:ea typeface="Calibri"/>
              <a:cs typeface="Calibri"/>
              <a:sym typeface="Calibri"/>
            </a:endParaRPr>
          </a:p>
        </p:txBody>
      </p:sp>
      <p:sp>
        <p:nvSpPr>
          <p:cNvPr id="217" name="Google Shape;217;p9"/>
          <p:cNvSpPr txBox="1"/>
          <p:nvPr/>
        </p:nvSpPr>
        <p:spPr>
          <a:xfrm>
            <a:off x="3520440" y="3456432"/>
            <a:ext cx="2148840" cy="10241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A3A3A"/>
              </a:buClr>
              <a:buSzPts val="1300"/>
              <a:buFont typeface="Calibri"/>
              <a:buNone/>
            </a:pPr>
            <a:r>
              <a:rPr b="0" i="0" lang="en-US" sz="1300" u="none" cap="none" strike="noStrike">
                <a:solidFill>
                  <a:srgbClr val="3A3A3A"/>
                </a:solidFill>
                <a:latin typeface="Calibri"/>
                <a:ea typeface="Calibri"/>
                <a:cs typeface="Calibri"/>
                <a:sym typeface="Calibri"/>
              </a:rPr>
              <a:t>of churn vs 27% for Promo Ghosts, and $4.1K of the $9.1K monthly revenue lost</a:t>
            </a:r>
            <a:endParaRPr b="0" i="0" sz="1300" u="none" cap="none" strike="noStrike">
              <a:solidFill>
                <a:schemeClr val="dk1"/>
              </a:solidFill>
              <a:latin typeface="Calibri"/>
              <a:ea typeface="Calibri"/>
              <a:cs typeface="Calibri"/>
              <a:sym typeface="Calibri"/>
            </a:endParaRPr>
          </a:p>
        </p:txBody>
      </p:sp>
      <p:sp>
        <p:nvSpPr>
          <p:cNvPr id="218" name="Google Shape;218;p9"/>
          <p:cNvSpPr/>
          <p:nvPr/>
        </p:nvSpPr>
        <p:spPr>
          <a:xfrm>
            <a:off x="6126480" y="2487168"/>
            <a:ext cx="2560320" cy="2057400"/>
          </a:xfrm>
          <a:prstGeom prst="rect">
            <a:avLst/>
          </a:prstGeom>
          <a:solidFill>
            <a:srgbClr val="FFFFFF"/>
          </a:solidFill>
          <a:ln cap="flat" cmpd="sng" w="9525">
            <a:solidFill>
              <a:srgbClr val="D9D9D6"/>
            </a:solidFill>
            <a:prstDash val="solid"/>
            <a:round/>
            <a:headEnd len="sm" w="sm" type="none"/>
            <a:tailEnd len="sm" w="sm" type="none"/>
          </a:ln>
          <a:effectLst>
            <a:outerShdw blurRad="508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9"/>
          <p:cNvSpPr txBox="1"/>
          <p:nvPr/>
        </p:nvSpPr>
        <p:spPr>
          <a:xfrm>
            <a:off x="6355080" y="2596896"/>
            <a:ext cx="2103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322A"/>
              </a:buClr>
              <a:buSzPts val="1200"/>
              <a:buFont typeface="Courier New"/>
              <a:buNone/>
            </a:pPr>
            <a:r>
              <a:rPr b="1" i="0" lang="en-US" sz="1200" u="none" cap="none" strike="noStrike">
                <a:solidFill>
                  <a:srgbClr val="A8322A"/>
                </a:solidFill>
                <a:latin typeface="Courier New"/>
                <a:ea typeface="Courier New"/>
                <a:cs typeface="Courier New"/>
                <a:sym typeface="Courier New"/>
              </a:rPr>
              <a:t>COST VS. VALUE</a:t>
            </a:r>
            <a:endParaRPr b="0" i="0" sz="1200" u="none" cap="none" strike="noStrike">
              <a:solidFill>
                <a:schemeClr val="dk1"/>
              </a:solidFill>
              <a:latin typeface="Calibri"/>
              <a:ea typeface="Calibri"/>
              <a:cs typeface="Calibri"/>
              <a:sym typeface="Calibri"/>
            </a:endParaRPr>
          </a:p>
        </p:txBody>
      </p:sp>
      <p:sp>
        <p:nvSpPr>
          <p:cNvPr id="220" name="Google Shape;220;p9"/>
          <p:cNvSpPr txBox="1"/>
          <p:nvPr/>
        </p:nvSpPr>
        <p:spPr>
          <a:xfrm>
            <a:off x="6355080" y="2852928"/>
            <a:ext cx="21031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D3A"/>
              </a:buClr>
              <a:buSzPts val="2600"/>
              <a:buFont typeface="Bookman Old Style"/>
              <a:buNone/>
            </a:pPr>
            <a:r>
              <a:rPr b="1" i="0" lang="en-US" sz="2600" u="none" cap="none" strike="noStrike">
                <a:solidFill>
                  <a:srgbClr val="0B0D3A"/>
                </a:solidFill>
                <a:latin typeface="Bookman Old Style"/>
                <a:ea typeface="Bookman Old Style"/>
                <a:cs typeface="Bookman Old Style"/>
                <a:sym typeface="Bookman Old Style"/>
              </a:rPr>
              <a:t>~$2.4K/mo</a:t>
            </a:r>
            <a:endParaRPr b="0" i="0" sz="3000" u="none" cap="none" strike="noStrike">
              <a:solidFill>
                <a:schemeClr val="dk1"/>
              </a:solidFill>
              <a:latin typeface="Calibri"/>
              <a:ea typeface="Calibri"/>
              <a:cs typeface="Calibri"/>
              <a:sym typeface="Calibri"/>
            </a:endParaRPr>
          </a:p>
        </p:txBody>
      </p:sp>
      <p:sp>
        <p:nvSpPr>
          <p:cNvPr id="221" name="Google Shape;221;p9"/>
          <p:cNvSpPr txBox="1"/>
          <p:nvPr/>
        </p:nvSpPr>
        <p:spPr>
          <a:xfrm>
            <a:off x="6355080" y="3456432"/>
            <a:ext cx="2148840" cy="10241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A3A3A"/>
              </a:buClr>
              <a:buSzPts val="1300"/>
              <a:buFont typeface="Calibri"/>
              <a:buNone/>
            </a:pPr>
            <a:r>
              <a:rPr b="0" i="0" lang="en-US" sz="1300" u="none" cap="none" strike="noStrike">
                <a:solidFill>
                  <a:srgbClr val="3A3A3A"/>
                </a:solidFill>
                <a:latin typeface="Calibri"/>
                <a:ea typeface="Calibri"/>
                <a:cs typeface="Calibri"/>
                <a:sym typeface="Calibri"/>
              </a:rPr>
              <a:t>est. in credits. If churn here halves: ~190 more customers kept, ~$2K/mo saved</a:t>
            </a:r>
            <a:endParaRPr b="0" i="0" sz="1300" u="none" cap="none" strike="noStrike">
              <a:solidFill>
                <a:schemeClr val="dk1"/>
              </a:solidFill>
              <a:latin typeface="Calibri"/>
              <a:ea typeface="Calibri"/>
              <a:cs typeface="Calibri"/>
              <a:sym typeface="Calibri"/>
            </a:endParaRPr>
          </a:p>
        </p:txBody>
      </p:sp>
      <p:sp>
        <p:nvSpPr>
          <p:cNvPr id="222" name="Google Shape;222;p9"/>
          <p:cNvSpPr txBox="1"/>
          <p:nvPr>
            <p:ph idx="4294967295" type="sldNum"/>
          </p:nvPr>
        </p:nvSpPr>
        <p:spPr>
          <a:xfrm>
            <a:off x="8229600" y="4754880"/>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6B6B6B"/>
                </a:solidFill>
                <a:latin typeface="Courier New"/>
                <a:ea typeface="Courier New"/>
                <a:cs typeface="Courier New"/>
                <a:sym typeface="Courier New"/>
              </a:rPr>
              <a:t>‹#›</a:t>
            </a:fld>
            <a:endParaRPr b="0" i="0" sz="900" u="none" cap="none" strike="noStrike">
              <a:solidFill>
                <a:srgbClr val="6B6B6B"/>
              </a:solidFill>
              <a:latin typeface="Courier New"/>
              <a:ea typeface="Courier New"/>
              <a:cs typeface="Courier New"/>
              <a:sym typeface="Courier New"/>
            </a:endParaRPr>
          </a:p>
        </p:txBody>
      </p:sp>
      <p:sp>
        <p:nvSpPr>
          <p:cNvPr id="223" name="Google Shape;223;p9"/>
          <p:cNvSpPr txBox="1"/>
          <p:nvPr/>
        </p:nvSpPr>
        <p:spPr>
          <a:xfrm>
            <a:off x="457200" y="1170432"/>
            <a:ext cx="82296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B1F"/>
              </a:buClr>
              <a:buSzPts val="1300"/>
              <a:buFont typeface="Calibri"/>
              <a:buNone/>
            </a:pPr>
            <a:r>
              <a:rPr b="1" i="0" lang="en-US" sz="1300" u="none" cap="none" strike="noStrike">
                <a:solidFill>
                  <a:srgbClr val="1B1B1F"/>
                </a:solidFill>
                <a:latin typeface="Calibri"/>
                <a:ea typeface="Calibri"/>
                <a:cs typeface="Calibri"/>
                <a:sym typeface="Calibri"/>
              </a:rPr>
              <a:t>Why this wins: </a:t>
            </a:r>
            <a:r>
              <a:rPr b="0" i="0" lang="en-US" sz="1300" u="none" cap="none" strike="noStrike">
                <a:solidFill>
                  <a:srgbClr val="1B1B1F"/>
                </a:solidFill>
                <a:latin typeface="Calibri"/>
                <a:ea typeface="Calibri"/>
                <a:cs typeface="Calibri"/>
                <a:sym typeface="Calibri"/>
              </a:rPr>
              <a:t>it targets the biggest slice of churn, at a moment we already see, with a cause we control.</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0"/>
          <p:cNvSpPr txBox="1"/>
          <p:nvPr/>
        </p:nvSpPr>
        <p:spPr>
          <a:xfrm>
            <a:off x="548640" y="457200"/>
            <a:ext cx="6400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Bookman Old Style"/>
              <a:buNone/>
            </a:pPr>
            <a:r>
              <a:rPr b="1" i="0" lang="en-US" sz="3000" u="none" cap="none" strike="noStrike">
                <a:solidFill>
                  <a:srgbClr val="FFFFFF"/>
                </a:solidFill>
                <a:latin typeface="Bookman Old Style"/>
                <a:ea typeface="Bookman Old Style"/>
                <a:cs typeface="Bookman Old Style"/>
                <a:sym typeface="Bookman Old Style"/>
              </a:rPr>
              <a:t>How we'll know in 30 days</a:t>
            </a:r>
            <a:endParaRPr b="0" i="0" sz="3000" u="none" cap="none" strike="noStrike">
              <a:solidFill>
                <a:schemeClr val="dk1"/>
              </a:solidFill>
              <a:latin typeface="Calibri"/>
              <a:ea typeface="Calibri"/>
              <a:cs typeface="Calibri"/>
              <a:sym typeface="Calibri"/>
            </a:endParaRPr>
          </a:p>
        </p:txBody>
      </p:sp>
      <p:sp>
        <p:nvSpPr>
          <p:cNvPr id="230" name="Google Shape;230;p10"/>
          <p:cNvSpPr txBox="1"/>
          <p:nvPr/>
        </p:nvSpPr>
        <p:spPr>
          <a:xfrm>
            <a:off x="548640" y="1280160"/>
            <a:ext cx="5486400" cy="3108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8C4BF"/>
              </a:buClr>
              <a:buSzPts val="1500"/>
              <a:buFont typeface="Calibri"/>
              <a:buNone/>
            </a:pPr>
            <a:r>
              <a:rPr b="1" i="0" lang="en-US" sz="1500" u="none" cap="none" strike="noStrike">
                <a:solidFill>
                  <a:srgbClr val="E8C4BF"/>
                </a:solidFill>
                <a:latin typeface="Calibri"/>
                <a:ea typeface="Calibri"/>
                <a:cs typeface="Calibri"/>
                <a:sym typeface="Calibri"/>
              </a:rPr>
              <a:t>The test: </a:t>
            </a:r>
            <a:r>
              <a:rPr b="0" i="0" lang="en-US" sz="1500" u="none" cap="none" strike="noStrike">
                <a:solidFill>
                  <a:srgbClr val="FFFFFF"/>
                </a:solidFill>
                <a:latin typeface="Calibri"/>
                <a:ea typeface="Calibri"/>
                <a:cs typeface="Calibri"/>
                <a:sym typeface="Calibri"/>
              </a:rPr>
              <a:t>every customer who opens a 2nd billing ticket is randomly assigned. Half get the fix, half get today's process.</a:t>
            </a:r>
            <a:endParaRPr b="0" i="0" sz="1600" u="none" cap="none" strike="noStrike">
              <a:solidFill>
                <a:schemeClr val="dk1"/>
              </a:solidFill>
              <a:latin typeface="Calibri"/>
              <a:ea typeface="Calibri"/>
              <a:cs typeface="Calibri"/>
              <a:sym typeface="Calibri"/>
            </a:endParaRPr>
          </a:p>
          <a:p>
            <a:pPr indent="0" lvl="0" marL="0" marR="0" rtl="0" algn="l">
              <a:spcBef>
                <a:spcPts val="1200"/>
              </a:spcBef>
              <a:spcAft>
                <a:spcPts val="0"/>
              </a:spcAft>
              <a:buClr>
                <a:srgbClr val="E8C4BF"/>
              </a:buClr>
              <a:buSzPts val="1500"/>
              <a:buFont typeface="Calibri"/>
              <a:buNone/>
            </a:pPr>
            <a:r>
              <a:rPr b="1" i="0" lang="en-US" sz="1500" u="none" cap="none" strike="noStrike">
                <a:solidFill>
                  <a:srgbClr val="E8C4BF"/>
                </a:solidFill>
                <a:latin typeface="Calibri"/>
                <a:ea typeface="Calibri"/>
                <a:cs typeface="Calibri"/>
                <a:sym typeface="Calibri"/>
              </a:rPr>
              <a:t>We track: </a:t>
            </a:r>
            <a:r>
              <a:rPr b="0" i="0" lang="en-US" sz="1500" u="none" cap="none" strike="noStrike">
                <a:solidFill>
                  <a:srgbClr val="FFFFFF"/>
                </a:solidFill>
                <a:latin typeface="Calibri"/>
                <a:ea typeface="Calibri"/>
                <a:cs typeface="Calibri"/>
                <a:sym typeface="Calibri"/>
              </a:rPr>
              <a:t>% who cancel (today 56.5%), % who open a 3rd ticket, and % solved on first contact.</a:t>
            </a:r>
            <a:endParaRPr b="0" i="0" sz="1600" u="none" cap="none" strike="noStrike">
              <a:solidFill>
                <a:schemeClr val="dk1"/>
              </a:solidFill>
              <a:latin typeface="Calibri"/>
              <a:ea typeface="Calibri"/>
              <a:cs typeface="Calibri"/>
              <a:sym typeface="Calibri"/>
            </a:endParaRPr>
          </a:p>
          <a:p>
            <a:pPr indent="0" lvl="0" marL="0" marR="0" rtl="0" algn="l">
              <a:spcBef>
                <a:spcPts val="1200"/>
              </a:spcBef>
              <a:spcAft>
                <a:spcPts val="0"/>
              </a:spcAft>
              <a:buClr>
                <a:srgbClr val="E8C4BF"/>
              </a:buClr>
              <a:buSzPts val="1500"/>
              <a:buFont typeface="Calibri"/>
              <a:buNone/>
            </a:pPr>
            <a:r>
              <a:rPr b="1" i="0" lang="en-US" sz="1500" u="none" cap="none" strike="noStrike">
                <a:solidFill>
                  <a:srgbClr val="E8C4BF"/>
                </a:solidFill>
                <a:latin typeface="Calibri"/>
                <a:ea typeface="Calibri"/>
                <a:cs typeface="Calibri"/>
                <a:sym typeface="Calibri"/>
              </a:rPr>
              <a:t>Success: </a:t>
            </a:r>
            <a:r>
              <a:rPr b="0" i="0" lang="en-US" sz="1500" u="none" cap="none" strike="noStrike">
                <a:solidFill>
                  <a:srgbClr val="FFFFFF"/>
                </a:solidFill>
                <a:latin typeface="Calibri"/>
                <a:ea typeface="Calibri"/>
                <a:cs typeface="Calibri"/>
                <a:sym typeface="Calibri"/>
              </a:rPr>
              <a:t>the fix group cancels clearly less than the control group. Target: at least 10 points lower.</a:t>
            </a:r>
            <a:endParaRPr b="0" i="0" sz="1600" u="none" cap="none" strike="noStrike">
              <a:solidFill>
                <a:schemeClr val="dk1"/>
              </a:solidFill>
              <a:latin typeface="Calibri"/>
              <a:ea typeface="Calibri"/>
              <a:cs typeface="Calibri"/>
              <a:sym typeface="Calibri"/>
            </a:endParaRPr>
          </a:p>
          <a:p>
            <a:pPr indent="0" lvl="0" marL="0" marR="0" rtl="0" algn="l">
              <a:spcBef>
                <a:spcPts val="1200"/>
              </a:spcBef>
              <a:spcAft>
                <a:spcPts val="0"/>
              </a:spcAft>
              <a:buClr>
                <a:srgbClr val="E8C4BF"/>
              </a:buClr>
              <a:buSzPts val="1500"/>
              <a:buFont typeface="Calibri"/>
              <a:buNone/>
            </a:pPr>
            <a:r>
              <a:rPr b="1" i="0" lang="en-US" sz="1500" u="none" cap="none" strike="noStrike">
                <a:solidFill>
                  <a:srgbClr val="E8C4BF"/>
                </a:solidFill>
                <a:latin typeface="Calibri"/>
                <a:ea typeface="Calibri"/>
                <a:cs typeface="Calibri"/>
                <a:sym typeface="Calibri"/>
              </a:rPr>
              <a:t>Day 30: </a:t>
            </a:r>
            <a:r>
              <a:rPr b="0" i="0" lang="en-US" sz="1500" u="none" cap="none" strike="noStrike">
                <a:solidFill>
                  <a:srgbClr val="FFFFFF"/>
                </a:solidFill>
                <a:latin typeface="Calibri"/>
                <a:ea typeface="Calibri"/>
                <a:cs typeface="Calibri"/>
                <a:sym typeface="Calibri"/>
              </a:rPr>
              <a:t>if it wins, roll out to everyone. Then Case #2: onboarding for Promo Ghosts.</a:t>
            </a:r>
            <a:endParaRPr b="0" i="0" sz="1600" u="none" cap="none" strike="noStrike">
              <a:solidFill>
                <a:schemeClr val="dk1"/>
              </a:solidFill>
              <a:latin typeface="Calibri"/>
              <a:ea typeface="Calibri"/>
              <a:cs typeface="Calibri"/>
              <a:sym typeface="Calibri"/>
            </a:endParaRPr>
          </a:p>
        </p:txBody>
      </p:sp>
      <p:sp>
        <p:nvSpPr>
          <p:cNvPr id="231" name="Google Shape;231;p10"/>
          <p:cNvSpPr/>
          <p:nvPr/>
        </p:nvSpPr>
        <p:spPr>
          <a:xfrm rot="-720000">
            <a:off x="6263640" y="2011680"/>
            <a:ext cx="2468880" cy="914400"/>
          </a:xfrm>
          <a:prstGeom prst="rect">
            <a:avLst/>
          </a:prstGeom>
          <a:solidFill>
            <a:srgbClr val="0B0D3A">
              <a:alpha val="0"/>
            </a:srgbClr>
          </a:solidFill>
          <a:ln cap="flat" cmpd="sng" w="50800">
            <a:solidFill>
              <a:srgbClr val="A832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0"/>
          <p:cNvSpPr txBox="1"/>
          <p:nvPr/>
        </p:nvSpPr>
        <p:spPr>
          <a:xfrm rot="-720000">
            <a:off x="6263640" y="2011680"/>
            <a:ext cx="246888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8322A"/>
              </a:buClr>
              <a:buSzPts val="2600"/>
              <a:buFont typeface="Courier New"/>
              <a:buNone/>
            </a:pPr>
            <a:r>
              <a:rPr b="1" i="0" lang="en-US" sz="2600" u="none" cap="none" strike="noStrike">
                <a:solidFill>
                  <a:srgbClr val="A8322A"/>
                </a:solidFill>
                <a:latin typeface="Courier New"/>
                <a:ea typeface="Courier New"/>
                <a:cs typeface="Courier New"/>
                <a:sym typeface="Courier New"/>
              </a:rPr>
              <a:t>CASE CLOSED</a:t>
            </a:r>
            <a:endParaRPr b="0" i="0" sz="26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h6d3231e9f8496912_0_0"/>
          <p:cNvSpPr/>
          <p:nvPr/>
        </p:nvSpPr>
        <p:spPr>
          <a:xfrm>
            <a:off x="457200" y="201168"/>
            <a:ext cx="1737300" cy="255900"/>
          </a:xfrm>
          <a:prstGeom prst="roundRect">
            <a:avLst>
              <a:gd fmla="val 17857" name="adj"/>
            </a:avLst>
          </a:prstGeom>
          <a:solidFill>
            <a:schemeClr val="accent1"/>
          </a:solidFill>
          <a:ln cap="flat" cmpd="sng" w="127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h6d3231e9f8496912_0_0"/>
          <p:cNvSpPr txBox="1"/>
          <p:nvPr/>
        </p:nvSpPr>
        <p:spPr>
          <a:xfrm>
            <a:off x="457200" y="201168"/>
            <a:ext cx="17373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000"/>
              <a:buFont typeface="Courier New"/>
              <a:buNone/>
            </a:pPr>
            <a:r>
              <a:rPr b="1" lang="en-US" sz="1000">
                <a:solidFill>
                  <a:schemeClr val="lt1"/>
                </a:solidFill>
                <a:latin typeface="Courier New"/>
                <a:ea typeface="Courier New"/>
                <a:cs typeface="Courier New"/>
                <a:sym typeface="Courier New"/>
              </a:rPr>
              <a:t>OTHER IMPROVEMENTS</a:t>
            </a:r>
            <a:endParaRPr b="0" i="0" sz="1000" u="none" cap="none" strike="noStrike">
              <a:solidFill>
                <a:schemeClr val="dk1"/>
              </a:solidFill>
              <a:latin typeface="Calibri"/>
              <a:ea typeface="Calibri"/>
              <a:cs typeface="Calibri"/>
              <a:sym typeface="Calibri"/>
            </a:endParaRPr>
          </a:p>
        </p:txBody>
      </p:sp>
      <p:sp>
        <p:nvSpPr>
          <p:cNvPr id="240" name="Google Shape;240;h6d3231e9f8496912_0_0"/>
          <p:cNvSpPr txBox="1"/>
          <p:nvPr>
            <p:ph type="title"/>
          </p:nvPr>
        </p:nvSpPr>
        <p:spPr>
          <a:xfrm>
            <a:off x="457200" y="502920"/>
            <a:ext cx="8229600" cy="6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2"/>
              </a:buClr>
              <a:buSzPts val="2800"/>
              <a:buFont typeface="Bookman Old Style"/>
              <a:buNone/>
            </a:pPr>
            <a:r>
              <a:rPr lang="en-US"/>
              <a:t>Change Customer </a:t>
            </a:r>
            <a:r>
              <a:rPr lang="en-US"/>
              <a:t>Acquisition</a:t>
            </a:r>
            <a:r>
              <a:rPr lang="en-US"/>
              <a:t> Strategy and Promote Mixed Content</a:t>
            </a:r>
            <a:endParaRPr sz="2800"/>
          </a:p>
        </p:txBody>
      </p:sp>
      <p:sp>
        <p:nvSpPr>
          <p:cNvPr id="241" name="Google Shape;241;h6d3231e9f8496912_0_0"/>
          <p:cNvSpPr txBox="1"/>
          <p:nvPr>
            <p:ph idx="4294967295" type="sldNum"/>
          </p:nvPr>
        </p:nvSpPr>
        <p:spPr>
          <a:xfrm>
            <a:off x="7697975" y="4754905"/>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6B6B6B"/>
                </a:solidFill>
                <a:latin typeface="Courier New"/>
                <a:ea typeface="Courier New"/>
                <a:cs typeface="Courier New"/>
                <a:sym typeface="Courier New"/>
              </a:rPr>
              <a:t>‹#›</a:t>
            </a:fld>
            <a:endParaRPr b="0" i="0" sz="900" u="none" cap="none" strike="noStrike">
              <a:solidFill>
                <a:srgbClr val="6B6B6B"/>
              </a:solidFill>
              <a:latin typeface="Courier New"/>
              <a:ea typeface="Courier New"/>
              <a:cs typeface="Courier New"/>
              <a:sym typeface="Courier New"/>
            </a:endParaRPr>
          </a:p>
        </p:txBody>
      </p:sp>
      <p:sp>
        <p:nvSpPr>
          <p:cNvPr id="242" name="Google Shape;242;h6d3231e9f8496912_0_0"/>
          <p:cNvSpPr/>
          <p:nvPr/>
        </p:nvSpPr>
        <p:spPr>
          <a:xfrm>
            <a:off x="5919850" y="1595679"/>
            <a:ext cx="2563500" cy="2868300"/>
          </a:xfrm>
          <a:prstGeom prst="rect">
            <a:avLst/>
          </a:prstGeom>
          <a:solidFill>
            <a:srgbClr val="FFFFFF"/>
          </a:solidFill>
          <a:ln cap="flat" cmpd="sng" w="12725">
            <a:solidFill>
              <a:srgbClr val="D9D9D6"/>
            </a:solidFill>
            <a:prstDash val="solid"/>
            <a:round/>
            <a:headEnd len="sm" w="sm" type="none"/>
            <a:tailEnd len="sm" w="sm" type="none"/>
          </a:ln>
          <a:effectLst>
            <a:outerShdw blurRad="67807" rotWithShape="0" algn="bl" dir="5400000" dist="33903">
              <a:srgbClr val="000000">
                <a:alpha val="12160"/>
              </a:srgbClr>
            </a:outerShdw>
          </a:effectLst>
        </p:spPr>
        <p:txBody>
          <a:bodyPr anchorCtr="0" anchor="ctr" bIns="122025" lIns="122025" spcFirstLastPara="1" rIns="122025" wrap="square" tIns="122025">
            <a:noAutofit/>
          </a:bodyPr>
          <a:lstStyle/>
          <a:p>
            <a:pPr indent="0" lvl="0" marL="0" rtl="0" algn="l">
              <a:spcBef>
                <a:spcPts val="0"/>
              </a:spcBef>
              <a:spcAft>
                <a:spcPts val="0"/>
              </a:spcAft>
              <a:buNone/>
            </a:pPr>
            <a:r>
              <a:t/>
            </a:r>
            <a:endParaRPr/>
          </a:p>
        </p:txBody>
      </p:sp>
      <p:sp>
        <p:nvSpPr>
          <p:cNvPr id="243" name="Google Shape;243;h6d3231e9f8496912_0_0"/>
          <p:cNvSpPr txBox="1"/>
          <p:nvPr/>
        </p:nvSpPr>
        <p:spPr>
          <a:xfrm>
            <a:off x="6148601" y="1679075"/>
            <a:ext cx="2106000" cy="793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0D3A"/>
              </a:buClr>
              <a:buSzPts val="4004"/>
              <a:buFont typeface="Bookman Old Style"/>
              <a:buNone/>
            </a:pPr>
            <a:r>
              <a:rPr b="1" lang="en-US" sz="2937">
                <a:solidFill>
                  <a:srgbClr val="0B0D3A"/>
                </a:solidFill>
                <a:latin typeface="Bookman Old Style"/>
                <a:ea typeface="Bookman Old Style"/>
                <a:cs typeface="Bookman Old Style"/>
                <a:sym typeface="Bookman Old Style"/>
              </a:rPr>
              <a:t>Our</a:t>
            </a:r>
            <a:r>
              <a:rPr b="1" lang="en-US" sz="2937">
                <a:solidFill>
                  <a:srgbClr val="0B0D3A"/>
                </a:solidFill>
                <a:latin typeface="Bookman Old Style"/>
                <a:ea typeface="Bookman Old Style"/>
                <a:cs typeface="Bookman Old Style"/>
                <a:sym typeface="Bookman Old Style"/>
              </a:rPr>
              <a:t> Promo</a:t>
            </a:r>
            <a:endParaRPr b="0" i="0" sz="2937" u="none" cap="none" strike="noStrike">
              <a:solidFill>
                <a:schemeClr val="dk1"/>
              </a:solidFill>
              <a:latin typeface="Calibri"/>
              <a:ea typeface="Calibri"/>
              <a:cs typeface="Calibri"/>
              <a:sym typeface="Calibri"/>
            </a:endParaRPr>
          </a:p>
        </p:txBody>
      </p:sp>
      <p:sp>
        <p:nvSpPr>
          <p:cNvPr id="244" name="Google Shape;244;h6d3231e9f8496912_0_0"/>
          <p:cNvSpPr txBox="1"/>
          <p:nvPr/>
        </p:nvSpPr>
        <p:spPr>
          <a:xfrm>
            <a:off x="6148750" y="2406771"/>
            <a:ext cx="2151900" cy="189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3A3A3A"/>
              </a:buClr>
              <a:buSzPts val="1735"/>
              <a:buFont typeface="Calibri"/>
              <a:buNone/>
            </a:pPr>
            <a:r>
              <a:rPr lang="en-US" sz="1735">
                <a:solidFill>
                  <a:srgbClr val="3A3A3A"/>
                </a:solidFill>
                <a:latin typeface="Calibri"/>
                <a:ea typeface="Calibri"/>
                <a:cs typeface="Calibri"/>
                <a:sym typeface="Calibri"/>
              </a:rPr>
              <a:t>Strategy cost has increased </a:t>
            </a:r>
            <a:r>
              <a:rPr lang="en-US" sz="1735">
                <a:solidFill>
                  <a:srgbClr val="3A3A3A"/>
                </a:solidFill>
                <a:latin typeface="Calibri"/>
                <a:ea typeface="Calibri"/>
                <a:cs typeface="Calibri"/>
                <a:sym typeface="Calibri"/>
              </a:rPr>
              <a:t>+18% and attracts</a:t>
            </a:r>
            <a:r>
              <a:rPr lang="en-US" sz="1735">
                <a:solidFill>
                  <a:srgbClr val="3A3A3A"/>
                </a:solidFill>
                <a:latin typeface="Calibri"/>
                <a:ea typeface="Calibri"/>
                <a:cs typeface="Calibri"/>
                <a:sym typeface="Calibri"/>
              </a:rPr>
              <a:t> high churn risk subscribers. Promotions need to focus on high usage customers</a:t>
            </a:r>
            <a:endParaRPr sz="1735">
              <a:solidFill>
                <a:schemeClr val="dk1"/>
              </a:solidFill>
              <a:latin typeface="Calibri"/>
              <a:ea typeface="Calibri"/>
              <a:cs typeface="Calibri"/>
              <a:sym typeface="Calibri"/>
            </a:endParaRPr>
          </a:p>
          <a:p>
            <a:pPr indent="0" lvl="0" marL="0" marR="0" rtl="0" algn="l">
              <a:spcBef>
                <a:spcPts val="0"/>
              </a:spcBef>
              <a:spcAft>
                <a:spcPts val="0"/>
              </a:spcAft>
              <a:buClr>
                <a:srgbClr val="3A3A3A"/>
              </a:buClr>
              <a:buSzPts val="1735"/>
              <a:buFont typeface="Calibri"/>
              <a:buNone/>
            </a:pPr>
            <a:r>
              <a:t/>
            </a:r>
            <a:endParaRPr sz="1735">
              <a:solidFill>
                <a:srgbClr val="3A3A3A"/>
              </a:solidFill>
              <a:latin typeface="Calibri"/>
              <a:ea typeface="Calibri"/>
              <a:cs typeface="Calibri"/>
              <a:sym typeface="Calibri"/>
            </a:endParaRPr>
          </a:p>
        </p:txBody>
      </p:sp>
      <p:sp>
        <p:nvSpPr>
          <p:cNvPr id="245" name="Google Shape;245;h6d3231e9f8496912_0_0"/>
          <p:cNvSpPr/>
          <p:nvPr/>
        </p:nvSpPr>
        <p:spPr>
          <a:xfrm>
            <a:off x="457200" y="1595665"/>
            <a:ext cx="4589100" cy="2868300"/>
          </a:xfrm>
          <a:prstGeom prst="rect">
            <a:avLst/>
          </a:prstGeom>
          <a:solidFill>
            <a:srgbClr val="FFFFFF"/>
          </a:solidFill>
          <a:ln cap="flat" cmpd="sng" w="8550">
            <a:solidFill>
              <a:srgbClr val="D9D9D6"/>
            </a:solidFill>
            <a:prstDash val="solid"/>
            <a:round/>
            <a:headEnd len="sm" w="sm" type="none"/>
            <a:tailEnd len="sm" w="sm" type="none"/>
          </a:ln>
          <a:effectLst>
            <a:outerShdw blurRad="45525" rotWithShape="0" algn="bl" dir="5400000" dist="22763">
              <a:srgbClr val="000000">
                <a:alpha val="12160"/>
              </a:srgbClr>
            </a:outerShdw>
          </a:effectLst>
        </p:spPr>
        <p:txBody>
          <a:bodyPr anchorCtr="0" anchor="ctr" bIns="81925" lIns="81925" spcFirstLastPara="1" rIns="81925" wrap="square" tIns="81925">
            <a:noAutofit/>
          </a:bodyPr>
          <a:lstStyle/>
          <a:p>
            <a:pPr indent="0" lvl="0" marL="0" rtl="0" algn="l">
              <a:spcBef>
                <a:spcPts val="0"/>
              </a:spcBef>
              <a:spcAft>
                <a:spcPts val="0"/>
              </a:spcAft>
              <a:buNone/>
            </a:pPr>
            <a:r>
              <a:t/>
            </a:r>
            <a:endParaRPr/>
          </a:p>
        </p:txBody>
      </p:sp>
      <p:pic>
        <p:nvPicPr>
          <p:cNvPr id="246" name="Google Shape;246;h6d3231e9f8496912_0_0"/>
          <p:cNvPicPr preferRelativeResize="0"/>
          <p:nvPr/>
        </p:nvPicPr>
        <p:blipFill rotWithShape="1">
          <a:blip r:embed="rId3">
            <a:alphaModFix/>
          </a:blip>
          <a:srcRect b="0" l="0" r="0" t="0"/>
          <a:stretch/>
        </p:blipFill>
        <p:spPr>
          <a:xfrm>
            <a:off x="580118" y="1677611"/>
            <a:ext cx="4342500" cy="27042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h6d3231e9f8496912_0_28"/>
          <p:cNvSpPr txBox="1"/>
          <p:nvPr>
            <p:ph type="title"/>
          </p:nvPr>
        </p:nvSpPr>
        <p:spPr>
          <a:xfrm>
            <a:off x="457200" y="502920"/>
            <a:ext cx="8229600" cy="6858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en-US"/>
              <a:t>Q&amp;A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ase Closed">
  <a:themeElements>
    <a:clrScheme name="Case Closed">
      <a:dk1>
        <a:srgbClr val="1B1B1F"/>
      </a:dk1>
      <a:lt1>
        <a:srgbClr val="FFFFFF"/>
      </a:lt1>
      <a:dk2>
        <a:srgbClr val="0B0D3A"/>
      </a:dk2>
      <a:lt2>
        <a:srgbClr val="F1F1EF"/>
      </a:lt2>
      <a:accent1>
        <a:srgbClr val="A8322A"/>
      </a:accent1>
      <a:accent2>
        <a:srgbClr val="0B0D3A"/>
      </a:accent2>
      <a:accent3>
        <a:srgbClr val="C9A227"/>
      </a:accent3>
      <a:accent4>
        <a:srgbClr val="8C8C8C"/>
      </a:accent4>
      <a:accent5>
        <a:srgbClr val="E8C4BF"/>
      </a:accent5>
      <a:accent6>
        <a:srgbClr val="4A4E7A"/>
      </a:accent6>
      <a:hlink>
        <a:srgbClr val="A8322A"/>
      </a:hlink>
      <a:folHlink>
        <a:srgbClr val="4A4E7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ase Closed">
  <a:themeElements>
    <a:clrScheme name="Case Closed">
      <a:dk1>
        <a:srgbClr val="1B1B1F"/>
      </a:dk1>
      <a:lt1>
        <a:srgbClr val="FFFFFF"/>
      </a:lt1>
      <a:dk2>
        <a:srgbClr val="0B0D3A"/>
      </a:dk2>
      <a:lt2>
        <a:srgbClr val="F1F1EF"/>
      </a:lt2>
      <a:accent1>
        <a:srgbClr val="A8322A"/>
      </a:accent1>
      <a:accent2>
        <a:srgbClr val="0B0D3A"/>
      </a:accent2>
      <a:accent3>
        <a:srgbClr val="C9A227"/>
      </a:accent3>
      <a:accent4>
        <a:srgbClr val="8C8C8C"/>
      </a:accent4>
      <a:accent5>
        <a:srgbClr val="E8C4BF"/>
      </a:accent5>
      <a:accent6>
        <a:srgbClr val="4A4E7A"/>
      </a:accent6>
      <a:hlink>
        <a:srgbClr val="A8322A"/>
      </a:hlink>
      <a:folHlink>
        <a:srgbClr val="4A4E7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2026-10-04T17:16:06Z</dcterms:created>
  <dc:creator>PptxGenJS</dc:creator>
</cp:coreProperties>
</file>